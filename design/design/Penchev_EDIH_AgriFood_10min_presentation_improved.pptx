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6858000" type="screen4x3"/>
  <p:notesSz cx="6858000" cy="9144000"/>
  <p:custDataLst>
    <p:tags r:id="rId13"/>
  </p:custDataLst>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4292">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E800"/>
    <a:srgbClr val="00E800"/>
    <a:srgbClr val="FFFF13"/>
    <a:srgbClr val="232337"/>
    <a:srgbClr val="E7FFCF"/>
    <a:srgbClr val="003300"/>
    <a:srgbClr val="CCFF99"/>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327" autoAdjust="0"/>
    <p:restoredTop sz="94660"/>
  </p:normalViewPr>
  <p:slideViewPr>
    <p:cSldViewPr>
      <p:cViewPr varScale="1">
        <p:scale>
          <a:sx n="79" d="100"/>
          <a:sy n="79" d="100"/>
        </p:scale>
        <p:origin x="1541" y="62"/>
      </p:cViewPr>
      <p:guideLst>
        <p:guide orient="horz" pos="4292"/>
        <p:guide pos="2880"/>
      </p:guideLst>
    </p:cSldViewPr>
  </p:slideViewPr>
  <p:notesTextViewPr>
    <p:cViewPr>
      <p:scale>
        <a:sx n="100" d="100"/>
        <a:sy n="100" d="100"/>
      </p:scale>
      <p:origin x="0" y="0"/>
    </p:cViewPr>
  </p:notesTextViewPr>
  <p:notesViewPr>
    <p:cSldViewPr>
      <p:cViewPr varScale="1">
        <p:scale>
          <a:sx n="65" d="100"/>
          <a:sy n="65" d="100"/>
        </p:scale>
        <p:origin x="3082" y="48"/>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tags" Target="tags/tag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2781CE-6FB5-439F-A35A-69E4FC1DE504}" type="datetimeFigureOut">
              <a:rPr lang="en-US" smtClean="0"/>
              <a:t>5/7/2026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26A2AE-AC99-49C8-8438-FF959E8F838C}" type="slidenum">
              <a:rPr lang="en-US" smtClean="0"/>
              <a:t>‹#›</a:t>
            </a:fld>
            <a:endParaRPr lang="en-US"/>
          </a:p>
        </p:txBody>
      </p:sp>
    </p:spTree>
    <p:extLst>
      <p:ext uri="{BB962C8B-B14F-4D97-AF65-F5344CB8AC3E}">
        <p14:creationId xmlns:p14="http://schemas.microsoft.com/office/powerpoint/2010/main" val="26715615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3886200"/>
            <a:ext cx="7772400" cy="2514600"/>
          </a:xfrm>
          <a:prstGeom prst="rect">
            <a:avLst/>
          </a:prstGeom>
        </p:spPr>
        <p:txBody>
          <a:bodyPr/>
          <a:lstStyle/>
          <a:p>
            <a:r>
              <a:rPr lang="en-US" sz="1200"/>
              <a:t>Good morning. This presentation summarizes a critical analysis of European Digital Innovation Hubs, or EDIHs, in the agri-food sector. The paper focuses on six national contexts: Bulgaria, Romania, Slovenia, Greece, Spain, and Turkey. The central question is not whether EDIHs exist as policy instruments, but how effectively their service model responds to agricultural users, especially small farms and smaller agri-food enterprises. I will focus on the research problem, the qualitative comparative methodology, the main findings on participation and service relevance, and the conclusions for more inclusive agricultural digitalization.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3886200"/>
            <a:ext cx="7772400" cy="2514600"/>
          </a:xfrm>
          <a:prstGeom prst="rect">
            <a:avLst/>
          </a:prstGeom>
        </p:spPr>
        <p:txBody>
          <a:bodyPr/>
          <a:lstStyle/>
          <a:p>
            <a:r>
              <a:rPr lang="en-US" sz="1200"/>
              <a:t>The article starts from a tension in European agricultural digitalization. Digital technologies such as precision farming systems, sensor-based monitoring, artificial intelligence, farm management software, and data-driven decision-support tools are presented as key enablers of smarter and more sustainable agri-food systems. At the same time, practical uptake remains uneven. This is especially visible among small and medium-sized farms, where high investment costs, uncertain economic returns, limited digital skills, fragmented production structures, and insufficient advisory support constrain adoption. The article also stresses that agriculture is a demanding context because production is shaped by biological variability, seasonal dependence, climate exposure, and diverse levels of technological readiness. For this reason, the effectiveness of EDIHs cannot be evaluated only by asking whether hubs are formally available. It also has to be evaluated through the practical accessibility of support for smaller agricultural actors.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3"/>
          <p:cNvSpPr>
            <a:spLocks noGrp="1"/>
          </p:cNvSpPr>
          <p:nvPr>
            <p:ph type="body" idx="1"/>
          </p:nvPr>
        </p:nvSpPr>
        <p:spPr>
          <a:xfrm>
            <a:off x="685800" y="3886200"/>
            <a:ext cx="7772400" cy="2514600"/>
          </a:xfrm>
          <a:prstGeom prst="rect">
            <a:avLst/>
          </a:prstGeom>
        </p:spPr>
        <p:txBody>
          <a:bodyPr/>
          <a:lstStyle/>
          <a:p>
            <a:r>
              <a:rPr lang="en-US" sz="1200"/>
              <a:t>The aim of the study is to critically assess the potential of EDIHs to support digital transition in the agri-food sector across six national contexts. The article examines economic viability, operational efficiency, environmental sustainability, and the inclusiveness of access for smaller agricultural actors. The contribution is twofold. First, it moves beyond a general description of EDIHs and evaluates their practical relevance in agriculture. Second, it places EDIHs within the wider debate on rural innovation, digital inclusion, and governance of agri-food transformation in Europe. The paper therefore treats EDIHs as potentially important, but not automatically successful, instruments.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idx="1"/>
          </p:nvPr>
        </p:nvSpPr>
        <p:spPr>
          <a:xfrm>
            <a:off x="685800" y="3886200"/>
            <a:ext cx="7772400" cy="2514600"/>
          </a:xfrm>
          <a:prstGeom prst="rect">
            <a:avLst/>
          </a:prstGeom>
        </p:spPr>
        <p:txBody>
          <a:bodyPr/>
          <a:lstStyle/>
          <a:p>
            <a:r>
              <a:rPr lang="en-US" sz="1200"/>
              <a:t>Methodologically, the study uses a qualitative comparative design. It combines a structured review of scientific literature on digital agriculture, innovation ecosystems, and technology adoption with a critical analysis of institutional and policy documents concerning European digital innovation initiatives. The literature review focused mainly on sources from 2020 to 2025, while earlier foundational studies were included where they provided conceptual insights. The empirical scope covers Bulgaria, Romania, Slovenia, Greece, Spain, and Turkey. These countries were selected purposively to reflect variation in agri-food specialization, EDIH visibility, ecosystem maturity, and regional institutional context. The design does not claim statistical representativeness, but supports analytical comparison across contrasting cases.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5"/>
          <p:cNvSpPr>
            <a:spLocks noGrp="1"/>
          </p:cNvSpPr>
          <p:nvPr>
            <p:ph type="body" idx="1"/>
          </p:nvPr>
        </p:nvSpPr>
        <p:spPr>
          <a:xfrm>
            <a:off x="685800" y="3886200"/>
            <a:ext cx="7772400" cy="2514600"/>
          </a:xfrm>
          <a:prstGeom prst="rect">
            <a:avLst/>
          </a:prstGeom>
        </p:spPr>
        <p:txBody>
          <a:bodyPr/>
          <a:lstStyle/>
          <a:p>
            <a:r>
              <a:rPr lang="en-US" sz="1200"/>
              <a:t>The comparison is structured around four principal analytical indicators. Economic viability refers to expected return on investment and cost efficiency. Operational efficiency concerns farm management, decision-support processes, and resource optimization. Sustainability outcomes relate to environmental monitoring, efficient input use, and resilience of production systems. Accessibility refers to whether small farms and rural enterprises can reach innovation support services and integrate digital solutions into practice. The study also considers structural barriers such as limited digital literacy, insufficient broadband connectivity in rural areas, financial constraints, and fragmented agricultural holdings. These barriers help interpret the practical relevance of EDIH services under real-world conditions.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6"/>
          <p:cNvSpPr>
            <a:spLocks noGrp="1"/>
          </p:cNvSpPr>
          <p:nvPr>
            <p:ph type="body" idx="1"/>
          </p:nvPr>
        </p:nvSpPr>
        <p:spPr>
          <a:xfrm>
            <a:off x="685800" y="3886200"/>
            <a:ext cx="7772400" cy="2514600"/>
          </a:xfrm>
          <a:prstGeom prst="rect">
            <a:avLst/>
          </a:prstGeom>
        </p:spPr>
        <p:txBody>
          <a:bodyPr/>
          <a:lstStyle/>
          <a:p>
            <a:r>
              <a:rPr lang="en-US" sz="1200"/>
              <a:t>One of the strongest quantitative findings is the mismatch between the formal presence of agri-food in the EDIH network and the actual intensity of agricultural participation. The article reports that agricultural users accounted for only approximately 1.7 percent of EDIH beneficiaries as of late 2024, while manufacturing represented close to 28 percent. By May 2025, the network had grown to 254 hubs. Of these, 93, or approximately 36 percent, provided some form of agri-food-related support, while only 12, or roughly 5 percent, operated with an exclusive agricultural mandate. In parallel, the wider network had engaged over 200,000 participants, organized about 5,000 events, and processed more than 18,000 service interactions. These figures support a careful interpretation: EDIHs are active as a network, and agri-food is formally present in many hubs, but agricultural users remain weakly represented among beneficiaries. The issue is therefore not network inactivity, but shallow penetration into agricultural practice.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7"/>
          <p:cNvSpPr>
            <a:spLocks noGrp="1"/>
          </p:cNvSpPr>
          <p:nvPr>
            <p:ph type="body" idx="1"/>
          </p:nvPr>
        </p:nvSpPr>
        <p:spPr>
          <a:xfrm>
            <a:off x="685800" y="3886200"/>
            <a:ext cx="7772400" cy="2514600"/>
          </a:xfrm>
          <a:prstGeom prst="rect">
            <a:avLst/>
          </a:prstGeom>
        </p:spPr>
        <p:txBody>
          <a:bodyPr/>
          <a:lstStyle/>
          <a:p>
            <a:r>
              <a:rPr lang="en-US" sz="1200"/>
              <a:t>The article identifies several mechanisms through which EDIHs may support agricultural digital adoption. Test-before-invest services are particularly important because farmers often hesitate to adopt technologies when expected returns are uncertain or context-dependent. Experimentation environments can reduce perceived risk by allowing technologies to be tested under realistic farm conditions. Training and digital skills development form a second mechanism, because the usefulness of digital tools depends on users' capacity to interpret data and integrate technologies into farm routines. A third mechanism is innovation intermediation and access to finance. EDIHs can connect agricultural actors with funding opportunities, investment instruments, and innovation networks. However, the article is careful: these services are more effective when translated into sector-relevant formats rather than delivered generically.</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8"/>
          <p:cNvSpPr>
            <a:spLocks noGrp="1"/>
          </p:cNvSpPr>
          <p:nvPr>
            <p:ph type="body" idx="1"/>
          </p:nvPr>
        </p:nvSpPr>
        <p:spPr>
          <a:xfrm>
            <a:off x="685800" y="3886200"/>
            <a:ext cx="7772400" cy="2514600"/>
          </a:xfrm>
          <a:prstGeom prst="rect">
            <a:avLst/>
          </a:prstGeom>
        </p:spPr>
        <p:txBody>
          <a:bodyPr/>
          <a:lstStyle/>
          <a:p>
            <a:r>
              <a:rPr lang="en-US" sz="1200"/>
              <a:t>The six-country comparison shows that effectiveness is shaped less by the formal existence of hubs and more by the interaction between specialization, ecosystem maturity, and accessibility. Bulgaria, Greece, and Slovenia offer clearer examples of explicit agri-food positioning, with hub missions and services framed around agricultural digitalization, demonstration environments, and sector-specific training. Spain illustrates a mature ecosystem model in which hubs operate within denser networks involving research institutions, technology providers, competence centres, and public programmes. Turkey represents an emerging ecosystem, with strategic narratives around agricultural modernization and AgriFood 4.0. Romania is more heterogeneous, with agricultural applications appearing within broader digitalization portfolios. The article treats this as a structural divide rather than a purely national ranking. Support appears more likely to be effective where a clear agri-food mission is combined with sector-relevant service translation, stronger ecosystem embedment, and lower access barriers for smaller farms and agri-food SMEs.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9"/>
          <p:cNvSpPr>
            <a:spLocks noGrp="1"/>
          </p:cNvSpPr>
          <p:nvPr>
            <p:ph type="body" idx="1"/>
          </p:nvPr>
        </p:nvSpPr>
        <p:spPr>
          <a:xfrm>
            <a:off x="685800" y="3886200"/>
            <a:ext cx="7772400" cy="2514600"/>
          </a:xfrm>
          <a:prstGeom prst="rect">
            <a:avLst/>
          </a:prstGeom>
        </p:spPr>
        <p:txBody>
          <a:bodyPr/>
          <a:lstStyle/>
          <a:p>
            <a:r>
              <a:rPr lang="en-US" sz="1200"/>
              <a:t>The discussion and conclusions emphasize a measured interpretation. EDIHs have meaningful potential to support agricultural digitalization, but their practical impact is uneven across national contexts and user categories. Their effectiveness depends strongly on the adaptation of services to farm realities. Experimentation environments, advisory support, and user-oriented service design are central for translating technological opportunities into practical agricultural use. Accessibility for small farms is decisive. Where services remain too costly, complex, or weakly adapted, smaller agricultural actors have difficulty benefiting from available innovation support. From a policy perspective, the article argues for stronger sector-specific specialization, improved affordability for smaller users, and closer coordination between digital innovation hubs, rural advisory systems, infrastructure development, and financing mechanisms. The article also highlights a limitation: the study relies on literature and institutional sources rather than farm-level performance data. Future research should therefore examine user experiences and measurable post-adoption outcomes more directly.</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0"/>
          <p:cNvSpPr>
            <a:spLocks noGrp="1"/>
          </p:cNvSpPr>
          <p:nvPr>
            <p:ph type="body" idx="1"/>
          </p:nvPr>
        </p:nvSpPr>
        <p:spPr>
          <a:xfrm>
            <a:off x="685800" y="3886200"/>
            <a:ext cx="7772400" cy="2514600"/>
          </a:xfrm>
          <a:prstGeom prst="rect">
            <a:avLst/>
          </a:prstGeom>
        </p:spPr>
        <p:txBody>
          <a:bodyPr/>
          <a:lstStyle/>
          <a:p>
            <a:r>
              <a:rPr lang="en-US" sz="1200"/>
              <a:t>To conclude, the main message is that EDIHs can support agri-food digitalization, but only when their services are adapted to the realities of agriculture. The article does not present EDIHs as a guaranteed solution. Instead, it argues that inclusive impact requires sector-specific specialization, affordability for smaller users, practical intelligibility, and better coordination with rural advisory systems, infrastructure development, and financing mechanisms. Thank you for your attention. I welcome your questions.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zitiv titlu">
    <p:spTree>
      <p:nvGrpSpPr>
        <p:cNvPr id="1" name=""/>
        <p:cNvGrpSpPr/>
        <p:nvPr/>
      </p:nvGrpSpPr>
      <p:grpSpPr>
        <a:xfrm>
          <a:off x="0" y="0"/>
          <a:ext cx="0" cy="0"/>
          <a:chOff x="0" y="0"/>
          <a:chExt cx="0" cy="0"/>
        </a:xfrm>
      </p:grpSpPr>
      <p:sp>
        <p:nvSpPr>
          <p:cNvPr id="2" name="Titlu 1"/>
          <p:cNvSpPr>
            <a:spLocks noGrp="1"/>
          </p:cNvSpPr>
          <p:nvPr>
            <p:ph type="ctrTitle"/>
          </p:nvPr>
        </p:nvSpPr>
        <p:spPr>
          <a:xfrm>
            <a:off x="685800" y="2130425"/>
            <a:ext cx="7772400" cy="1470025"/>
          </a:xfrm>
        </p:spPr>
        <p:txBody>
          <a:bodyPr/>
          <a:lstStyle/>
          <a:p>
            <a:r>
              <a:rPr lang="ro-RO"/>
              <a:t>Clic pentru editare stil titlu</a:t>
            </a:r>
            <a:endParaRPr lang="en-US"/>
          </a:p>
        </p:txBody>
      </p:sp>
      <p:sp>
        <p:nvSpPr>
          <p:cNvPr id="3" name="Subtitlu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ro-RO"/>
              <a:t>Clic pentru a edita stilul de subtitlu</a:t>
            </a:r>
            <a:endParaRPr lang="en-US"/>
          </a:p>
        </p:txBody>
      </p:sp>
      <p:sp>
        <p:nvSpPr>
          <p:cNvPr id="4" name="Rectangle 4"/>
          <p:cNvSpPr>
            <a:spLocks noGrp="1" noChangeArrowheads="1"/>
          </p:cNvSpPr>
          <p:nvPr>
            <p:ph type="dt" sz="half" idx="10"/>
          </p:nvPr>
        </p:nvSpPr>
        <p:spPr>
          <a:xfrm>
            <a:off x="457200" y="6245225"/>
            <a:ext cx="2133600" cy="476250"/>
          </a:xfrm>
          <a:prstGeom prst="rect">
            <a:avLst/>
          </a:prstGeom>
          <a:ln/>
        </p:spPr>
        <p:txBody>
          <a:bodyPr/>
          <a:lstStyle>
            <a:lvl1pPr>
              <a:defRPr/>
            </a:lvl1pPr>
          </a:lstStyle>
          <a:p>
            <a:endParaRPr lang="en-US" altLang="en-US"/>
          </a:p>
        </p:txBody>
      </p:sp>
      <p:sp>
        <p:nvSpPr>
          <p:cNvPr id="5"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endParaRPr lang="en-US" altLang="en-US"/>
          </a:p>
        </p:txBody>
      </p:sp>
      <p:sp>
        <p:nvSpPr>
          <p:cNvPr id="6" name="Rectangle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fld id="{B6D5BD09-898D-4B46-82BB-43F2CE7944F6}" type="slidenum">
              <a:rPr lang="en-US" altLang="en-US"/>
              <a:pPr/>
              <a:t>‹#›</a:t>
            </a:fld>
            <a:endParaRPr lang="en-US" altLang="en-US"/>
          </a:p>
        </p:txBody>
      </p:sp>
    </p:spTree>
    <p:custDataLst>
      <p:tags r:id="rId1"/>
    </p:custDataLst>
    <p:extLst>
      <p:ext uri="{BB962C8B-B14F-4D97-AF65-F5344CB8AC3E}">
        <p14:creationId xmlns:p14="http://schemas.microsoft.com/office/powerpoint/2010/main" val="41432669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u și conținut">
    <p:spTree>
      <p:nvGrpSpPr>
        <p:cNvPr id="1" name=""/>
        <p:cNvGrpSpPr/>
        <p:nvPr/>
      </p:nvGrpSpPr>
      <p:grpSpPr>
        <a:xfrm>
          <a:off x="0" y="0"/>
          <a:ext cx="0" cy="0"/>
          <a:chOff x="0" y="0"/>
          <a:chExt cx="0" cy="0"/>
        </a:xfrm>
      </p:grpSpPr>
      <p:sp>
        <p:nvSpPr>
          <p:cNvPr id="2" name="Titlu 1"/>
          <p:cNvSpPr>
            <a:spLocks noGrp="1"/>
          </p:cNvSpPr>
          <p:nvPr>
            <p:ph type="title"/>
          </p:nvPr>
        </p:nvSpPr>
        <p:spPr/>
        <p:txBody>
          <a:bodyPr/>
          <a:lstStyle/>
          <a:p>
            <a:r>
              <a:rPr lang="ro-RO"/>
              <a:t>Clic pentru editare stil titlu</a:t>
            </a:r>
            <a:endParaRPr lang="en-US"/>
          </a:p>
        </p:txBody>
      </p:sp>
      <p:sp>
        <p:nvSpPr>
          <p:cNvPr id="3" name="Substituent conținut 2"/>
          <p:cNvSpPr>
            <a:spLocks noGrp="1"/>
          </p:cNvSpPr>
          <p:nvPr>
            <p:ph idx="1"/>
          </p:nvPr>
        </p:nvSpPr>
        <p:spPr/>
        <p:txBody>
          <a:bodyPr/>
          <a:lstStyle/>
          <a:p>
            <a:pPr lvl="0"/>
            <a:r>
              <a:rPr lang="ro-RO"/>
              <a:t>Clic pentru editare stiluri text Coordonator</a:t>
            </a:r>
          </a:p>
          <a:p>
            <a:pPr lvl="1"/>
            <a:r>
              <a:rPr lang="ro-RO"/>
              <a:t>Al doilea nivel</a:t>
            </a:r>
          </a:p>
          <a:p>
            <a:pPr lvl="2"/>
            <a:r>
              <a:rPr lang="ro-RO"/>
              <a:t>Al treilea nivel</a:t>
            </a:r>
          </a:p>
          <a:p>
            <a:pPr lvl="3"/>
            <a:r>
              <a:rPr lang="ro-RO"/>
              <a:t>Al patrulea nivel</a:t>
            </a:r>
          </a:p>
          <a:p>
            <a:pPr lvl="4"/>
            <a:r>
              <a:rPr lang="ro-RO"/>
              <a:t>Al cincilea nivel</a:t>
            </a:r>
            <a:endParaRPr lang="en-US"/>
          </a:p>
        </p:txBody>
      </p:sp>
      <p:sp>
        <p:nvSpPr>
          <p:cNvPr id="4" name="Rectangle 4"/>
          <p:cNvSpPr>
            <a:spLocks noGrp="1" noChangeArrowheads="1"/>
          </p:cNvSpPr>
          <p:nvPr>
            <p:ph type="dt" sz="half" idx="10"/>
          </p:nvPr>
        </p:nvSpPr>
        <p:spPr>
          <a:xfrm>
            <a:off x="457200" y="6245225"/>
            <a:ext cx="2133600" cy="476250"/>
          </a:xfrm>
          <a:prstGeom prst="rect">
            <a:avLst/>
          </a:prstGeom>
          <a:ln/>
        </p:spPr>
        <p:txBody>
          <a:bodyPr/>
          <a:lstStyle>
            <a:lvl1pPr>
              <a:defRPr/>
            </a:lvl1pPr>
          </a:lstStyle>
          <a:p>
            <a:endParaRPr lang="en-US" altLang="en-US"/>
          </a:p>
        </p:txBody>
      </p:sp>
      <p:sp>
        <p:nvSpPr>
          <p:cNvPr id="5"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endParaRPr lang="en-US" altLang="en-US"/>
          </a:p>
        </p:txBody>
      </p:sp>
      <p:sp>
        <p:nvSpPr>
          <p:cNvPr id="6" name="Rectangle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fld id="{68B3914B-9880-4947-85F7-38C78C04685D}" type="slidenum">
              <a:rPr lang="en-US" altLang="en-US"/>
              <a:pPr/>
              <a:t>‹#›</a:t>
            </a:fld>
            <a:endParaRPr lang="en-US" altLang="en-US"/>
          </a:p>
        </p:txBody>
      </p:sp>
    </p:spTree>
    <p:custDataLst>
      <p:tags r:id="rId1"/>
    </p:custDataLst>
    <p:extLst>
      <p:ext uri="{BB962C8B-B14F-4D97-AF65-F5344CB8AC3E}">
        <p14:creationId xmlns:p14="http://schemas.microsoft.com/office/powerpoint/2010/main" val="17126184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ntet secțiune">
    <p:spTree>
      <p:nvGrpSpPr>
        <p:cNvPr id="1" name=""/>
        <p:cNvGrpSpPr/>
        <p:nvPr/>
      </p:nvGrpSpPr>
      <p:grpSpPr>
        <a:xfrm>
          <a:off x="0" y="0"/>
          <a:ext cx="0" cy="0"/>
          <a:chOff x="0" y="0"/>
          <a:chExt cx="0" cy="0"/>
        </a:xfrm>
      </p:grpSpPr>
      <p:sp>
        <p:nvSpPr>
          <p:cNvPr id="2" name="Titlu 1"/>
          <p:cNvSpPr>
            <a:spLocks noGrp="1"/>
          </p:cNvSpPr>
          <p:nvPr>
            <p:ph type="title"/>
          </p:nvPr>
        </p:nvSpPr>
        <p:spPr>
          <a:xfrm>
            <a:off x="722313" y="4406900"/>
            <a:ext cx="7772400" cy="1362075"/>
          </a:xfrm>
        </p:spPr>
        <p:txBody>
          <a:bodyPr anchor="t"/>
          <a:lstStyle>
            <a:lvl1pPr algn="l">
              <a:defRPr sz="4000" b="1" cap="all"/>
            </a:lvl1pPr>
          </a:lstStyle>
          <a:p>
            <a:r>
              <a:rPr lang="ro-RO"/>
              <a:t>Clic pentru editare stil titlu</a:t>
            </a:r>
            <a:endParaRPr lang="en-US"/>
          </a:p>
        </p:txBody>
      </p:sp>
      <p:sp>
        <p:nvSpPr>
          <p:cNvPr id="3" name="Substituent text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ro-RO"/>
              <a:t>Clic pentru editare stiluri text Coordonator</a:t>
            </a:r>
          </a:p>
        </p:txBody>
      </p:sp>
      <p:sp>
        <p:nvSpPr>
          <p:cNvPr id="4" name="Rectangle 4"/>
          <p:cNvSpPr>
            <a:spLocks noGrp="1" noChangeArrowheads="1"/>
          </p:cNvSpPr>
          <p:nvPr>
            <p:ph type="dt" sz="half" idx="10"/>
          </p:nvPr>
        </p:nvSpPr>
        <p:spPr>
          <a:xfrm>
            <a:off x="457200" y="6245225"/>
            <a:ext cx="2133600" cy="476250"/>
          </a:xfrm>
          <a:prstGeom prst="rect">
            <a:avLst/>
          </a:prstGeom>
          <a:ln/>
        </p:spPr>
        <p:txBody>
          <a:bodyPr/>
          <a:lstStyle>
            <a:lvl1pPr>
              <a:defRPr/>
            </a:lvl1pPr>
          </a:lstStyle>
          <a:p>
            <a:endParaRPr lang="en-US" altLang="en-US"/>
          </a:p>
        </p:txBody>
      </p:sp>
      <p:sp>
        <p:nvSpPr>
          <p:cNvPr id="5"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endParaRPr lang="en-US" altLang="en-US"/>
          </a:p>
        </p:txBody>
      </p:sp>
      <p:sp>
        <p:nvSpPr>
          <p:cNvPr id="6" name="Rectangle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fld id="{746F7C2D-1D42-49D1-AFF9-6D4F73FC375C}" type="slidenum">
              <a:rPr lang="en-US" altLang="en-US"/>
              <a:pPr/>
              <a:t>‹#›</a:t>
            </a:fld>
            <a:endParaRPr lang="en-US" altLang="en-US"/>
          </a:p>
        </p:txBody>
      </p:sp>
    </p:spTree>
    <p:custDataLst>
      <p:tags r:id="rId1"/>
    </p:custDataLst>
    <p:extLst>
      <p:ext uri="{BB962C8B-B14F-4D97-AF65-F5344CB8AC3E}">
        <p14:creationId xmlns:p14="http://schemas.microsoft.com/office/powerpoint/2010/main" val="8634421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uă tipuri de conținut">
    <p:spTree>
      <p:nvGrpSpPr>
        <p:cNvPr id="1" name=""/>
        <p:cNvGrpSpPr/>
        <p:nvPr/>
      </p:nvGrpSpPr>
      <p:grpSpPr>
        <a:xfrm>
          <a:off x="0" y="0"/>
          <a:ext cx="0" cy="0"/>
          <a:chOff x="0" y="0"/>
          <a:chExt cx="0" cy="0"/>
        </a:xfrm>
      </p:grpSpPr>
      <p:sp>
        <p:nvSpPr>
          <p:cNvPr id="2" name="Titlu 1"/>
          <p:cNvSpPr>
            <a:spLocks noGrp="1"/>
          </p:cNvSpPr>
          <p:nvPr>
            <p:ph type="title"/>
          </p:nvPr>
        </p:nvSpPr>
        <p:spPr/>
        <p:txBody>
          <a:bodyPr/>
          <a:lstStyle/>
          <a:p>
            <a:r>
              <a:rPr lang="ro-RO"/>
              <a:t>Clic pentru editare stil titlu</a:t>
            </a:r>
            <a:endParaRPr lang="en-US"/>
          </a:p>
        </p:txBody>
      </p:sp>
      <p:sp>
        <p:nvSpPr>
          <p:cNvPr id="3" name="Substituent conținut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o-RO"/>
              <a:t>Clic pentru editare stiluri text Coordonator</a:t>
            </a:r>
          </a:p>
          <a:p>
            <a:pPr lvl="1"/>
            <a:r>
              <a:rPr lang="ro-RO"/>
              <a:t>Al doilea nivel</a:t>
            </a:r>
          </a:p>
          <a:p>
            <a:pPr lvl="2"/>
            <a:r>
              <a:rPr lang="ro-RO"/>
              <a:t>Al treilea nivel</a:t>
            </a:r>
          </a:p>
          <a:p>
            <a:pPr lvl="3"/>
            <a:r>
              <a:rPr lang="ro-RO"/>
              <a:t>Al patrulea nivel</a:t>
            </a:r>
          </a:p>
          <a:p>
            <a:pPr lvl="4"/>
            <a:r>
              <a:rPr lang="ro-RO"/>
              <a:t>Al cincilea nivel</a:t>
            </a:r>
            <a:endParaRPr lang="en-US"/>
          </a:p>
        </p:txBody>
      </p:sp>
      <p:sp>
        <p:nvSpPr>
          <p:cNvPr id="4" name="Substituent conținut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o-RO"/>
              <a:t>Clic pentru editare stiluri text Coordonator</a:t>
            </a:r>
          </a:p>
          <a:p>
            <a:pPr lvl="1"/>
            <a:r>
              <a:rPr lang="ro-RO"/>
              <a:t>Al doilea nivel</a:t>
            </a:r>
          </a:p>
          <a:p>
            <a:pPr lvl="2"/>
            <a:r>
              <a:rPr lang="ro-RO"/>
              <a:t>Al treilea nivel</a:t>
            </a:r>
          </a:p>
          <a:p>
            <a:pPr lvl="3"/>
            <a:r>
              <a:rPr lang="ro-RO"/>
              <a:t>Al patrulea nivel</a:t>
            </a:r>
          </a:p>
          <a:p>
            <a:pPr lvl="4"/>
            <a:r>
              <a:rPr lang="ro-RO"/>
              <a:t>Al cincilea nivel</a:t>
            </a:r>
            <a:endParaRPr lang="en-US"/>
          </a:p>
        </p:txBody>
      </p:sp>
      <p:sp>
        <p:nvSpPr>
          <p:cNvPr id="5" name="Date Placeholder 4"/>
          <p:cNvSpPr>
            <a:spLocks noGrp="1" noChangeArrowheads="1"/>
          </p:cNvSpPr>
          <p:nvPr>
            <p:ph type="dt" sz="half" idx="10"/>
          </p:nvPr>
        </p:nvSpPr>
        <p:spPr>
          <a:xfrm>
            <a:off x="457200" y="6245225"/>
            <a:ext cx="2133600" cy="476250"/>
          </a:xfrm>
          <a:prstGeom prst="rect">
            <a:avLst/>
          </a:prstGeom>
          <a:ln/>
        </p:spPr>
        <p:txBody>
          <a:bodyPr/>
          <a:lstStyle>
            <a:lvl1pPr>
              <a:defRPr/>
            </a:lvl1pPr>
          </a:lstStyle>
          <a:p>
            <a:endParaRPr lang="en-US" altLang="en-US"/>
          </a:p>
        </p:txBody>
      </p:sp>
      <p:sp>
        <p:nvSpPr>
          <p:cNvPr id="6" name="Footer Placeholder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endParaRPr lang="en-US" altLang="en-US"/>
          </a:p>
        </p:txBody>
      </p:sp>
      <p:sp>
        <p:nvSpPr>
          <p:cNvPr id="7" name="Slide Number Placeholder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fld id="{C3A67E73-DB8C-4813-B34A-E1F2D65F6F38}" type="slidenum">
              <a:rPr lang="en-US" altLang="en-US"/>
              <a:pPr/>
              <a:t>‹#›</a:t>
            </a:fld>
            <a:endParaRPr lang="en-US" altLang="en-US"/>
          </a:p>
        </p:txBody>
      </p:sp>
    </p:spTree>
    <p:custDataLst>
      <p:tags r:id="rId1"/>
    </p:custDataLst>
    <p:extLst>
      <p:ext uri="{BB962C8B-B14F-4D97-AF65-F5344CB8AC3E}">
        <p14:creationId xmlns:p14="http://schemas.microsoft.com/office/powerpoint/2010/main" val="11384430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ție">
    <p:spTree>
      <p:nvGrpSpPr>
        <p:cNvPr id="1" name=""/>
        <p:cNvGrpSpPr/>
        <p:nvPr/>
      </p:nvGrpSpPr>
      <p:grpSpPr>
        <a:xfrm>
          <a:off x="0" y="0"/>
          <a:ext cx="0" cy="0"/>
          <a:chOff x="0" y="0"/>
          <a:chExt cx="0" cy="0"/>
        </a:xfrm>
      </p:grpSpPr>
      <p:sp>
        <p:nvSpPr>
          <p:cNvPr id="2" name="Titlu 1"/>
          <p:cNvSpPr>
            <a:spLocks noGrp="1"/>
          </p:cNvSpPr>
          <p:nvPr>
            <p:ph type="title"/>
          </p:nvPr>
        </p:nvSpPr>
        <p:spPr/>
        <p:txBody>
          <a:bodyPr/>
          <a:lstStyle>
            <a:lvl1pPr>
              <a:defRPr/>
            </a:lvl1pPr>
          </a:lstStyle>
          <a:p>
            <a:r>
              <a:rPr lang="ro-RO"/>
              <a:t>Clic pentru editare stil titlu</a:t>
            </a:r>
            <a:endParaRPr lang="en-US"/>
          </a:p>
        </p:txBody>
      </p:sp>
      <p:sp>
        <p:nvSpPr>
          <p:cNvPr id="3" name="Substituent text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o-RO"/>
              <a:t>Clic pentru editare stiluri text Coordonator</a:t>
            </a:r>
          </a:p>
        </p:txBody>
      </p:sp>
      <p:sp>
        <p:nvSpPr>
          <p:cNvPr id="4" name="Substituent conținut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o-RO" dirty="0"/>
              <a:t>Clic pentru editare stiluri text Coordonator</a:t>
            </a:r>
          </a:p>
          <a:p>
            <a:pPr lvl="1"/>
            <a:r>
              <a:rPr lang="ro-RO" dirty="0"/>
              <a:t>Al doilea nivel</a:t>
            </a:r>
          </a:p>
          <a:p>
            <a:pPr lvl="2"/>
            <a:r>
              <a:rPr lang="ro-RO" dirty="0"/>
              <a:t>Al treilea nivel</a:t>
            </a:r>
          </a:p>
          <a:p>
            <a:pPr lvl="3"/>
            <a:r>
              <a:rPr lang="ro-RO" dirty="0"/>
              <a:t>Al patrulea nivel</a:t>
            </a:r>
          </a:p>
          <a:p>
            <a:pPr lvl="4"/>
            <a:r>
              <a:rPr lang="ro-RO" dirty="0"/>
              <a:t>Al cincilea nivel</a:t>
            </a:r>
            <a:endParaRPr lang="en-US" dirty="0"/>
          </a:p>
        </p:txBody>
      </p:sp>
      <p:sp>
        <p:nvSpPr>
          <p:cNvPr id="5" name="Substituent text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o-RO"/>
              <a:t>Clic pentru editare stiluri text Coordonator</a:t>
            </a:r>
          </a:p>
        </p:txBody>
      </p:sp>
      <p:sp>
        <p:nvSpPr>
          <p:cNvPr id="6" name="Substituent conținut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o-RO"/>
              <a:t>Clic pentru editare stiluri text Coordonator</a:t>
            </a:r>
          </a:p>
          <a:p>
            <a:pPr lvl="1"/>
            <a:r>
              <a:rPr lang="ro-RO"/>
              <a:t>Al doilea nivel</a:t>
            </a:r>
          </a:p>
          <a:p>
            <a:pPr lvl="2"/>
            <a:r>
              <a:rPr lang="ro-RO"/>
              <a:t>Al treilea nivel</a:t>
            </a:r>
          </a:p>
          <a:p>
            <a:pPr lvl="3"/>
            <a:r>
              <a:rPr lang="ro-RO"/>
              <a:t>Al patrulea nivel</a:t>
            </a:r>
          </a:p>
          <a:p>
            <a:pPr lvl="4"/>
            <a:r>
              <a:rPr lang="ro-RO"/>
              <a:t>Al cincilea nivel</a:t>
            </a:r>
            <a:endParaRPr lang="en-US"/>
          </a:p>
        </p:txBody>
      </p:sp>
      <p:sp>
        <p:nvSpPr>
          <p:cNvPr id="7" name="Rectangle 4"/>
          <p:cNvSpPr>
            <a:spLocks noGrp="1" noChangeArrowheads="1"/>
          </p:cNvSpPr>
          <p:nvPr>
            <p:ph type="dt" sz="half" idx="10"/>
          </p:nvPr>
        </p:nvSpPr>
        <p:spPr>
          <a:xfrm>
            <a:off x="457200" y="6245225"/>
            <a:ext cx="2133600" cy="476250"/>
          </a:xfrm>
          <a:prstGeom prst="rect">
            <a:avLst/>
          </a:prstGeom>
          <a:ln/>
        </p:spPr>
        <p:txBody>
          <a:bodyPr/>
          <a:lstStyle>
            <a:lvl1pPr>
              <a:defRPr/>
            </a:lvl1pPr>
          </a:lstStyle>
          <a:p>
            <a:endParaRPr lang="en-US" altLang="en-US" dirty="0"/>
          </a:p>
        </p:txBody>
      </p:sp>
      <p:sp>
        <p:nvSpPr>
          <p:cNvPr id="8"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endParaRPr lang="en-US" altLang="en-US"/>
          </a:p>
        </p:txBody>
      </p:sp>
      <p:sp>
        <p:nvSpPr>
          <p:cNvPr id="9" name="Rectangle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fld id="{5C5FC5AA-B2E1-4411-9D43-1EA84F50C8D8}" type="slidenum">
              <a:rPr lang="en-US" altLang="en-US"/>
              <a:pPr/>
              <a:t>‹#›</a:t>
            </a:fld>
            <a:endParaRPr lang="en-US" altLang="en-US"/>
          </a:p>
        </p:txBody>
      </p:sp>
    </p:spTree>
    <p:custDataLst>
      <p:tags r:id="rId1"/>
    </p:custDataLst>
    <p:extLst>
      <p:ext uri="{BB962C8B-B14F-4D97-AF65-F5344CB8AC3E}">
        <p14:creationId xmlns:p14="http://schemas.microsoft.com/office/powerpoint/2010/main" val="25842750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Doar titlu">
    <p:spTree>
      <p:nvGrpSpPr>
        <p:cNvPr id="1" name=""/>
        <p:cNvGrpSpPr/>
        <p:nvPr/>
      </p:nvGrpSpPr>
      <p:grpSpPr>
        <a:xfrm>
          <a:off x="0" y="0"/>
          <a:ext cx="0" cy="0"/>
          <a:chOff x="0" y="0"/>
          <a:chExt cx="0" cy="0"/>
        </a:xfrm>
      </p:grpSpPr>
      <p:sp>
        <p:nvSpPr>
          <p:cNvPr id="2" name="Titlu 1"/>
          <p:cNvSpPr>
            <a:spLocks noGrp="1"/>
          </p:cNvSpPr>
          <p:nvPr>
            <p:ph type="title"/>
          </p:nvPr>
        </p:nvSpPr>
        <p:spPr/>
        <p:txBody>
          <a:bodyPr/>
          <a:lstStyle/>
          <a:p>
            <a:r>
              <a:rPr lang="ro-RO"/>
              <a:t>Clic pentru editare stil titlu</a:t>
            </a:r>
            <a:endParaRPr lang="en-US"/>
          </a:p>
        </p:txBody>
      </p:sp>
      <p:sp>
        <p:nvSpPr>
          <p:cNvPr id="3" name="Rectangle 4"/>
          <p:cNvSpPr>
            <a:spLocks noGrp="1" noChangeArrowheads="1"/>
          </p:cNvSpPr>
          <p:nvPr>
            <p:ph type="dt" sz="half" idx="10"/>
          </p:nvPr>
        </p:nvSpPr>
        <p:spPr>
          <a:xfrm>
            <a:off x="457200" y="6245225"/>
            <a:ext cx="2133600" cy="476250"/>
          </a:xfrm>
          <a:prstGeom prst="rect">
            <a:avLst/>
          </a:prstGeom>
          <a:ln/>
        </p:spPr>
        <p:txBody>
          <a:bodyPr/>
          <a:lstStyle>
            <a:lvl1pPr>
              <a:defRPr/>
            </a:lvl1pPr>
          </a:lstStyle>
          <a:p>
            <a:endParaRPr lang="en-US" altLang="en-US"/>
          </a:p>
        </p:txBody>
      </p:sp>
      <p:sp>
        <p:nvSpPr>
          <p:cNvPr id="4"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endParaRPr lang="en-US" altLang="en-US"/>
          </a:p>
        </p:txBody>
      </p:sp>
      <p:sp>
        <p:nvSpPr>
          <p:cNvPr id="5" name="Rectangle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fld id="{DC9839AB-891E-4F57-88DB-C01F4DC282F6}" type="slidenum">
              <a:rPr lang="en-US" altLang="en-US"/>
              <a:pPr/>
              <a:t>‹#›</a:t>
            </a:fld>
            <a:endParaRPr lang="en-US" altLang="en-US"/>
          </a:p>
        </p:txBody>
      </p:sp>
    </p:spTree>
    <p:custDataLst>
      <p:tags r:id="rId1"/>
    </p:custDataLst>
    <p:extLst>
      <p:ext uri="{BB962C8B-B14F-4D97-AF65-F5344CB8AC3E}">
        <p14:creationId xmlns:p14="http://schemas.microsoft.com/office/powerpoint/2010/main" val="3150246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Necompletat">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457200" y="6245225"/>
            <a:ext cx="2133600" cy="476250"/>
          </a:xfrm>
          <a:prstGeom prst="rect">
            <a:avLst/>
          </a:prstGeom>
          <a:ln/>
        </p:spPr>
        <p:txBody>
          <a:bodyPr/>
          <a:lstStyle>
            <a:lvl1pPr>
              <a:defRPr/>
            </a:lvl1pPr>
          </a:lstStyle>
          <a:p>
            <a:endParaRPr lang="en-US" altLang="en-US" dirty="0"/>
          </a:p>
        </p:txBody>
      </p:sp>
      <p:sp>
        <p:nvSpPr>
          <p:cNvPr id="3"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endParaRPr lang="en-US" altLang="en-US" dirty="0"/>
          </a:p>
        </p:txBody>
      </p:sp>
      <p:sp>
        <p:nvSpPr>
          <p:cNvPr id="4" name="Rectangle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fld id="{AD313F85-A41D-4632-BD1F-733006925FCD}" type="slidenum">
              <a:rPr lang="en-US" altLang="en-US"/>
              <a:pPr/>
              <a:t>‹#›</a:t>
            </a:fld>
            <a:endParaRPr lang="en-US" altLang="en-US"/>
          </a:p>
        </p:txBody>
      </p:sp>
    </p:spTree>
    <p:custDataLst>
      <p:tags r:id="rId1"/>
    </p:custDataLst>
    <p:extLst>
      <p:ext uri="{BB962C8B-B14F-4D97-AF65-F5344CB8AC3E}">
        <p14:creationId xmlns:p14="http://schemas.microsoft.com/office/powerpoint/2010/main" val="17866013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ținut cu legendă">
    <p:spTree>
      <p:nvGrpSpPr>
        <p:cNvPr id="1" name=""/>
        <p:cNvGrpSpPr/>
        <p:nvPr/>
      </p:nvGrpSpPr>
      <p:grpSpPr>
        <a:xfrm>
          <a:off x="0" y="0"/>
          <a:ext cx="0" cy="0"/>
          <a:chOff x="0" y="0"/>
          <a:chExt cx="0" cy="0"/>
        </a:xfrm>
      </p:grpSpPr>
      <p:sp>
        <p:nvSpPr>
          <p:cNvPr id="2" name="Titlu 1"/>
          <p:cNvSpPr>
            <a:spLocks noGrp="1"/>
          </p:cNvSpPr>
          <p:nvPr>
            <p:ph type="title"/>
          </p:nvPr>
        </p:nvSpPr>
        <p:spPr>
          <a:xfrm>
            <a:off x="457200" y="273050"/>
            <a:ext cx="3008313" cy="1162050"/>
          </a:xfrm>
        </p:spPr>
        <p:txBody>
          <a:bodyPr anchor="b"/>
          <a:lstStyle>
            <a:lvl1pPr algn="l">
              <a:defRPr sz="2000" b="1"/>
            </a:lvl1pPr>
          </a:lstStyle>
          <a:p>
            <a:r>
              <a:rPr lang="ro-RO"/>
              <a:t>Clic pentru editare stil titlu</a:t>
            </a:r>
            <a:endParaRPr lang="en-US"/>
          </a:p>
        </p:txBody>
      </p:sp>
      <p:sp>
        <p:nvSpPr>
          <p:cNvPr id="3" name="Substituent conținut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o-RO"/>
              <a:t>Clic pentru editare stiluri text Coordonator</a:t>
            </a:r>
          </a:p>
          <a:p>
            <a:pPr lvl="1"/>
            <a:r>
              <a:rPr lang="ro-RO"/>
              <a:t>Al doilea nivel</a:t>
            </a:r>
          </a:p>
          <a:p>
            <a:pPr lvl="2"/>
            <a:r>
              <a:rPr lang="ro-RO"/>
              <a:t>Al treilea nivel</a:t>
            </a:r>
          </a:p>
          <a:p>
            <a:pPr lvl="3"/>
            <a:r>
              <a:rPr lang="ro-RO"/>
              <a:t>Al patrulea nivel</a:t>
            </a:r>
          </a:p>
          <a:p>
            <a:pPr lvl="4"/>
            <a:r>
              <a:rPr lang="ro-RO"/>
              <a:t>Al cincilea nivel</a:t>
            </a:r>
            <a:endParaRPr lang="en-US"/>
          </a:p>
        </p:txBody>
      </p:sp>
      <p:sp>
        <p:nvSpPr>
          <p:cNvPr id="4" name="Substituent text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o-RO"/>
              <a:t>Clic pentru editare stiluri text Coordonator</a:t>
            </a:r>
          </a:p>
        </p:txBody>
      </p:sp>
      <p:sp>
        <p:nvSpPr>
          <p:cNvPr id="5" name="Date Placeholder 4"/>
          <p:cNvSpPr>
            <a:spLocks noGrp="1" noChangeArrowheads="1"/>
          </p:cNvSpPr>
          <p:nvPr>
            <p:ph type="dt" sz="half" idx="10"/>
          </p:nvPr>
        </p:nvSpPr>
        <p:spPr>
          <a:xfrm>
            <a:off x="457200" y="6245225"/>
            <a:ext cx="2133600" cy="476250"/>
          </a:xfrm>
          <a:prstGeom prst="rect">
            <a:avLst/>
          </a:prstGeom>
          <a:ln/>
        </p:spPr>
        <p:txBody>
          <a:bodyPr/>
          <a:lstStyle>
            <a:lvl1pPr>
              <a:defRPr/>
            </a:lvl1pPr>
          </a:lstStyle>
          <a:p>
            <a:endParaRPr lang="en-US" altLang="en-US"/>
          </a:p>
        </p:txBody>
      </p:sp>
      <p:sp>
        <p:nvSpPr>
          <p:cNvPr id="6" name="Footer Placeholder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endParaRPr lang="en-US" altLang="en-US"/>
          </a:p>
        </p:txBody>
      </p:sp>
      <p:sp>
        <p:nvSpPr>
          <p:cNvPr id="7" name="Slide Number Placeholder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fld id="{69CC3555-D719-43A9-8E4D-2A10EB2DDB42}" type="slidenum">
              <a:rPr lang="en-US" altLang="en-US"/>
              <a:pPr/>
              <a:t>‹#›</a:t>
            </a:fld>
            <a:endParaRPr lang="en-US" altLang="en-US"/>
          </a:p>
        </p:txBody>
      </p:sp>
    </p:spTree>
    <p:custDataLst>
      <p:tags r:id="rId1"/>
    </p:custDataLst>
    <p:extLst>
      <p:ext uri="{BB962C8B-B14F-4D97-AF65-F5344CB8AC3E}">
        <p14:creationId xmlns:p14="http://schemas.microsoft.com/office/powerpoint/2010/main" val="31540075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ine cu legendă">
    <p:spTree>
      <p:nvGrpSpPr>
        <p:cNvPr id="1" name=""/>
        <p:cNvGrpSpPr/>
        <p:nvPr/>
      </p:nvGrpSpPr>
      <p:grpSpPr>
        <a:xfrm>
          <a:off x="0" y="0"/>
          <a:ext cx="0" cy="0"/>
          <a:chOff x="0" y="0"/>
          <a:chExt cx="0" cy="0"/>
        </a:xfrm>
      </p:grpSpPr>
      <p:sp>
        <p:nvSpPr>
          <p:cNvPr id="2" name="Titlu 1"/>
          <p:cNvSpPr>
            <a:spLocks noGrp="1"/>
          </p:cNvSpPr>
          <p:nvPr>
            <p:ph type="title"/>
          </p:nvPr>
        </p:nvSpPr>
        <p:spPr>
          <a:xfrm>
            <a:off x="1792288" y="4800600"/>
            <a:ext cx="5486400" cy="566738"/>
          </a:xfrm>
        </p:spPr>
        <p:txBody>
          <a:bodyPr anchor="b"/>
          <a:lstStyle>
            <a:lvl1pPr algn="l">
              <a:defRPr sz="2000" b="1"/>
            </a:lvl1pPr>
          </a:lstStyle>
          <a:p>
            <a:r>
              <a:rPr lang="ro-RO"/>
              <a:t>Clic pentru editare stil titlu</a:t>
            </a:r>
            <a:endParaRPr lang="en-US"/>
          </a:p>
        </p:txBody>
      </p:sp>
      <p:sp>
        <p:nvSpPr>
          <p:cNvPr id="3" name="Substituent imagin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Substituent text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o-RO"/>
              <a:t>Clic pentru editare stiluri text Coordonator</a:t>
            </a:r>
          </a:p>
        </p:txBody>
      </p:sp>
      <p:sp>
        <p:nvSpPr>
          <p:cNvPr id="5" name="Date Placeholder 4"/>
          <p:cNvSpPr>
            <a:spLocks noGrp="1" noChangeArrowheads="1"/>
          </p:cNvSpPr>
          <p:nvPr>
            <p:ph type="dt" sz="half" idx="10"/>
          </p:nvPr>
        </p:nvSpPr>
        <p:spPr>
          <a:xfrm>
            <a:off x="457200" y="6245225"/>
            <a:ext cx="2133600" cy="476250"/>
          </a:xfrm>
          <a:prstGeom prst="rect">
            <a:avLst/>
          </a:prstGeom>
          <a:ln/>
        </p:spPr>
        <p:txBody>
          <a:bodyPr/>
          <a:lstStyle>
            <a:lvl1pPr>
              <a:defRPr/>
            </a:lvl1pPr>
          </a:lstStyle>
          <a:p>
            <a:endParaRPr lang="en-US" altLang="en-US"/>
          </a:p>
        </p:txBody>
      </p:sp>
      <p:sp>
        <p:nvSpPr>
          <p:cNvPr id="6" name="Footer Placeholder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endParaRPr lang="en-US" altLang="en-US"/>
          </a:p>
        </p:txBody>
      </p:sp>
      <p:sp>
        <p:nvSpPr>
          <p:cNvPr id="7" name="Slide Number Placeholder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fld id="{506FAA89-9853-4C68-BC5D-9810A08044CE}" type="slidenum">
              <a:rPr lang="en-US" altLang="en-US"/>
              <a:pPr/>
              <a:t>‹#›</a:t>
            </a:fld>
            <a:endParaRPr lang="en-US" altLang="en-US"/>
          </a:p>
        </p:txBody>
      </p:sp>
    </p:spTree>
    <p:custDataLst>
      <p:tags r:id="rId1"/>
    </p:custDataLst>
    <p:extLst>
      <p:ext uri="{BB962C8B-B14F-4D97-AF65-F5344CB8AC3E}">
        <p14:creationId xmlns:p14="http://schemas.microsoft.com/office/powerpoint/2010/main" val="31998203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ext vertical și titlu">
    <p:spTree>
      <p:nvGrpSpPr>
        <p:cNvPr id="1" name=""/>
        <p:cNvGrpSpPr/>
        <p:nvPr/>
      </p:nvGrpSpPr>
      <p:grpSpPr>
        <a:xfrm>
          <a:off x="0" y="0"/>
          <a:ext cx="0" cy="0"/>
          <a:chOff x="0" y="0"/>
          <a:chExt cx="0" cy="0"/>
        </a:xfrm>
      </p:grpSpPr>
      <p:sp>
        <p:nvSpPr>
          <p:cNvPr id="2" name="Titlu 1"/>
          <p:cNvSpPr>
            <a:spLocks noGrp="1"/>
          </p:cNvSpPr>
          <p:nvPr>
            <p:ph type="title"/>
          </p:nvPr>
        </p:nvSpPr>
        <p:spPr/>
        <p:txBody>
          <a:bodyPr/>
          <a:lstStyle/>
          <a:p>
            <a:r>
              <a:rPr lang="ro-RO"/>
              <a:t>Clic pentru editare stil titlu</a:t>
            </a:r>
            <a:endParaRPr lang="en-US"/>
          </a:p>
        </p:txBody>
      </p:sp>
      <p:sp>
        <p:nvSpPr>
          <p:cNvPr id="3" name="Substituent text vertical 2"/>
          <p:cNvSpPr>
            <a:spLocks noGrp="1"/>
          </p:cNvSpPr>
          <p:nvPr>
            <p:ph type="body" orient="vert" idx="1"/>
          </p:nvPr>
        </p:nvSpPr>
        <p:spPr/>
        <p:txBody>
          <a:bodyPr vert="eaVert"/>
          <a:lstStyle/>
          <a:p>
            <a:pPr lvl="0"/>
            <a:r>
              <a:rPr lang="ro-RO"/>
              <a:t>Clic pentru editare stiluri text Coordonator</a:t>
            </a:r>
          </a:p>
          <a:p>
            <a:pPr lvl="1"/>
            <a:r>
              <a:rPr lang="ro-RO"/>
              <a:t>Al doilea nivel</a:t>
            </a:r>
          </a:p>
          <a:p>
            <a:pPr lvl="2"/>
            <a:r>
              <a:rPr lang="ro-RO"/>
              <a:t>Al treilea nivel</a:t>
            </a:r>
          </a:p>
          <a:p>
            <a:pPr lvl="3"/>
            <a:r>
              <a:rPr lang="ro-RO"/>
              <a:t>Al patrulea nivel</a:t>
            </a:r>
          </a:p>
          <a:p>
            <a:pPr lvl="4"/>
            <a:r>
              <a:rPr lang="ro-RO"/>
              <a:t>Al cincilea nivel</a:t>
            </a:r>
            <a:endParaRPr lang="en-US"/>
          </a:p>
        </p:txBody>
      </p:sp>
      <p:sp>
        <p:nvSpPr>
          <p:cNvPr id="4" name="Rectangle 4"/>
          <p:cNvSpPr>
            <a:spLocks noGrp="1" noChangeArrowheads="1"/>
          </p:cNvSpPr>
          <p:nvPr>
            <p:ph type="dt" sz="half" idx="10"/>
          </p:nvPr>
        </p:nvSpPr>
        <p:spPr>
          <a:xfrm>
            <a:off x="457200" y="6245225"/>
            <a:ext cx="2133600" cy="476250"/>
          </a:xfrm>
          <a:prstGeom prst="rect">
            <a:avLst/>
          </a:prstGeom>
          <a:ln/>
        </p:spPr>
        <p:txBody>
          <a:bodyPr/>
          <a:lstStyle>
            <a:lvl1pPr>
              <a:defRPr/>
            </a:lvl1pPr>
          </a:lstStyle>
          <a:p>
            <a:endParaRPr lang="en-US" altLang="en-US"/>
          </a:p>
        </p:txBody>
      </p:sp>
      <p:sp>
        <p:nvSpPr>
          <p:cNvPr id="5"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endParaRPr lang="en-US" altLang="en-US"/>
          </a:p>
        </p:txBody>
      </p:sp>
      <p:sp>
        <p:nvSpPr>
          <p:cNvPr id="6" name="Rectangle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fld id="{9F6E42F0-E3AE-4172-9F45-1B0D7B437729}" type="slidenum">
              <a:rPr lang="en-US" altLang="en-US"/>
              <a:pPr/>
              <a:t>‹#›</a:t>
            </a:fld>
            <a:endParaRPr lang="en-US" altLang="en-US"/>
          </a:p>
        </p:txBody>
      </p:sp>
    </p:spTree>
    <p:custDataLst>
      <p:tags r:id="rId1"/>
    </p:custDataLst>
    <p:extLst>
      <p:ext uri="{BB962C8B-B14F-4D97-AF65-F5344CB8AC3E}">
        <p14:creationId xmlns:p14="http://schemas.microsoft.com/office/powerpoint/2010/main" val="30041750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lu vertical și text">
    <p:spTree>
      <p:nvGrpSpPr>
        <p:cNvPr id="1" name=""/>
        <p:cNvGrpSpPr/>
        <p:nvPr/>
      </p:nvGrpSpPr>
      <p:grpSpPr>
        <a:xfrm>
          <a:off x="0" y="0"/>
          <a:ext cx="0" cy="0"/>
          <a:chOff x="0" y="0"/>
          <a:chExt cx="0" cy="0"/>
        </a:xfrm>
      </p:grpSpPr>
      <p:sp>
        <p:nvSpPr>
          <p:cNvPr id="2" name="Titlu vertical 1"/>
          <p:cNvSpPr>
            <a:spLocks noGrp="1"/>
          </p:cNvSpPr>
          <p:nvPr>
            <p:ph type="title" orient="vert"/>
          </p:nvPr>
        </p:nvSpPr>
        <p:spPr>
          <a:xfrm>
            <a:off x="6629400" y="274638"/>
            <a:ext cx="2057400" cy="5851525"/>
          </a:xfrm>
        </p:spPr>
        <p:txBody>
          <a:bodyPr vert="eaVert"/>
          <a:lstStyle/>
          <a:p>
            <a:r>
              <a:rPr lang="ro-RO"/>
              <a:t>Clic pentru editare stil titlu</a:t>
            </a:r>
            <a:endParaRPr lang="en-US"/>
          </a:p>
        </p:txBody>
      </p:sp>
      <p:sp>
        <p:nvSpPr>
          <p:cNvPr id="3" name="Substituent text vertical 2"/>
          <p:cNvSpPr>
            <a:spLocks noGrp="1"/>
          </p:cNvSpPr>
          <p:nvPr>
            <p:ph type="body" orient="vert" idx="1"/>
          </p:nvPr>
        </p:nvSpPr>
        <p:spPr>
          <a:xfrm>
            <a:off x="457200" y="274638"/>
            <a:ext cx="6019800" cy="5851525"/>
          </a:xfrm>
        </p:spPr>
        <p:txBody>
          <a:bodyPr vert="eaVert"/>
          <a:lstStyle/>
          <a:p>
            <a:pPr lvl="0"/>
            <a:r>
              <a:rPr lang="ro-RO"/>
              <a:t>Clic pentru editare stiluri text Coordonator</a:t>
            </a:r>
          </a:p>
          <a:p>
            <a:pPr lvl="1"/>
            <a:r>
              <a:rPr lang="ro-RO"/>
              <a:t>Al doilea nivel</a:t>
            </a:r>
          </a:p>
          <a:p>
            <a:pPr lvl="2"/>
            <a:r>
              <a:rPr lang="ro-RO"/>
              <a:t>Al treilea nivel</a:t>
            </a:r>
          </a:p>
          <a:p>
            <a:pPr lvl="3"/>
            <a:r>
              <a:rPr lang="ro-RO"/>
              <a:t>Al patrulea nivel</a:t>
            </a:r>
          </a:p>
          <a:p>
            <a:pPr lvl="4"/>
            <a:r>
              <a:rPr lang="ro-RO"/>
              <a:t>Al cincilea nivel</a:t>
            </a:r>
            <a:endParaRPr lang="en-US"/>
          </a:p>
        </p:txBody>
      </p:sp>
      <p:sp>
        <p:nvSpPr>
          <p:cNvPr id="4" name="Rectangle 4"/>
          <p:cNvSpPr>
            <a:spLocks noGrp="1" noChangeArrowheads="1"/>
          </p:cNvSpPr>
          <p:nvPr>
            <p:ph type="dt" sz="half" idx="10"/>
          </p:nvPr>
        </p:nvSpPr>
        <p:spPr>
          <a:xfrm>
            <a:off x="457200" y="6245225"/>
            <a:ext cx="2133600" cy="476250"/>
          </a:xfrm>
          <a:prstGeom prst="rect">
            <a:avLst/>
          </a:prstGeom>
          <a:ln/>
        </p:spPr>
        <p:txBody>
          <a:bodyPr/>
          <a:lstStyle>
            <a:lvl1pPr>
              <a:defRPr/>
            </a:lvl1pPr>
          </a:lstStyle>
          <a:p>
            <a:endParaRPr lang="en-US" altLang="en-US"/>
          </a:p>
        </p:txBody>
      </p:sp>
      <p:sp>
        <p:nvSpPr>
          <p:cNvPr id="5"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endParaRPr lang="en-US" altLang="en-US"/>
          </a:p>
        </p:txBody>
      </p:sp>
      <p:sp>
        <p:nvSpPr>
          <p:cNvPr id="6" name="Rectangle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fld id="{39C94B55-3F72-48BC-AFD1-61ACDA394E73}" type="slidenum">
              <a:rPr lang="en-US" altLang="en-US"/>
              <a:pPr/>
              <a:t>‹#›</a:t>
            </a:fld>
            <a:endParaRPr lang="en-US" altLang="en-US"/>
          </a:p>
        </p:txBody>
      </p:sp>
    </p:spTree>
    <p:custDataLst>
      <p:tags r:id="rId1"/>
    </p:custDataLst>
    <p:extLst>
      <p:ext uri="{BB962C8B-B14F-4D97-AF65-F5344CB8AC3E}">
        <p14:creationId xmlns:p14="http://schemas.microsoft.com/office/powerpoint/2010/main" val="28368723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tags" Target="../tags/tag2.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3"/>
        </a:solidFill>
        <a:effectLst/>
      </p:bgPr>
    </p:bg>
    <p:spTree>
      <p:nvGrpSpPr>
        <p:cNvPr id="1" name=""/>
        <p:cNvGrpSpPr/>
        <p:nvPr/>
      </p:nvGrpSpPr>
      <p:grpSpPr>
        <a:xfrm>
          <a:off x="0" y="0"/>
          <a:ext cx="0" cy="0"/>
          <a:chOff x="0" y="0"/>
          <a:chExt cx="0" cy="0"/>
        </a:xfrm>
      </p:grpSpPr>
      <p:sp>
        <p:nvSpPr>
          <p:cNvPr id="11" name="Freeform 17"/>
          <p:cNvSpPr>
            <a:spLocks noChangeAspect="1"/>
          </p:cNvSpPr>
          <p:nvPr userDrawn="1"/>
        </p:nvSpPr>
        <p:spPr bwMode="auto">
          <a:xfrm>
            <a:off x="-36513" y="5259388"/>
            <a:ext cx="9224963" cy="1625600"/>
          </a:xfrm>
          <a:custGeom>
            <a:avLst/>
            <a:gdLst>
              <a:gd name="T0" fmla="*/ 0 w 5811"/>
              <a:gd name="T1" fmla="*/ 503238 h 1024"/>
              <a:gd name="T2" fmla="*/ 1679575 w 5811"/>
              <a:gd name="T3" fmla="*/ 654050 h 1024"/>
              <a:gd name="T4" fmla="*/ 2449513 w 5811"/>
              <a:gd name="T5" fmla="*/ 736600 h 1024"/>
              <a:gd name="T6" fmla="*/ 3559175 w 5811"/>
              <a:gd name="T7" fmla="*/ 722313 h 1024"/>
              <a:gd name="T8" fmla="*/ 4578350 w 5811"/>
              <a:gd name="T9" fmla="*/ 587375 h 1024"/>
              <a:gd name="T10" fmla="*/ 6153150 w 5811"/>
              <a:gd name="T11" fmla="*/ 287338 h 1024"/>
              <a:gd name="T12" fmla="*/ 7981950 w 5811"/>
              <a:gd name="T13" fmla="*/ 17463 h 1024"/>
              <a:gd name="T14" fmla="*/ 9210675 w 5811"/>
              <a:gd name="T15" fmla="*/ 182563 h 1024"/>
              <a:gd name="T16" fmla="*/ 9224963 w 5811"/>
              <a:gd name="T17" fmla="*/ 646113 h 1024"/>
              <a:gd name="T18" fmla="*/ 9224963 w 5811"/>
              <a:gd name="T19" fmla="*/ 1606550 h 1024"/>
              <a:gd name="T20" fmla="*/ 8104188 w 5811"/>
              <a:gd name="T21" fmla="*/ 1593850 h 1024"/>
              <a:gd name="T22" fmla="*/ 3048000 w 5811"/>
              <a:gd name="T23" fmla="*/ 1625600 h 1024"/>
              <a:gd name="T24" fmla="*/ 0 w 5811"/>
              <a:gd name="T25" fmla="*/ 1619250 h 1024"/>
              <a:gd name="T26" fmla="*/ 0 w 5811"/>
              <a:gd name="T27" fmla="*/ 1204913 h 1024"/>
              <a:gd name="T28" fmla="*/ 0 w 5811"/>
              <a:gd name="T29" fmla="*/ 503238 h 102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5811" h="1024">
                <a:moveTo>
                  <a:pt x="0" y="317"/>
                </a:moveTo>
                <a:cubicBezTo>
                  <a:pt x="171" y="261"/>
                  <a:pt x="801" y="388"/>
                  <a:pt x="1058" y="412"/>
                </a:cubicBezTo>
                <a:cubicBezTo>
                  <a:pt x="1315" y="436"/>
                  <a:pt x="1346" y="457"/>
                  <a:pt x="1543" y="464"/>
                </a:cubicBezTo>
                <a:cubicBezTo>
                  <a:pt x="1740" y="471"/>
                  <a:pt x="2019" y="471"/>
                  <a:pt x="2242" y="455"/>
                </a:cubicBezTo>
                <a:cubicBezTo>
                  <a:pt x="2465" y="439"/>
                  <a:pt x="2612" y="416"/>
                  <a:pt x="2884" y="370"/>
                </a:cubicBezTo>
                <a:cubicBezTo>
                  <a:pt x="3156" y="324"/>
                  <a:pt x="3519" y="241"/>
                  <a:pt x="3876" y="181"/>
                </a:cubicBezTo>
                <a:cubicBezTo>
                  <a:pt x="4233" y="121"/>
                  <a:pt x="4707" y="22"/>
                  <a:pt x="5028" y="11"/>
                </a:cubicBezTo>
                <a:cubicBezTo>
                  <a:pt x="5349" y="0"/>
                  <a:pt x="5671" y="49"/>
                  <a:pt x="5802" y="115"/>
                </a:cubicBezTo>
                <a:lnTo>
                  <a:pt x="5811" y="407"/>
                </a:lnTo>
                <a:lnTo>
                  <a:pt x="5811" y="1012"/>
                </a:lnTo>
                <a:lnTo>
                  <a:pt x="5105" y="1004"/>
                </a:lnTo>
                <a:cubicBezTo>
                  <a:pt x="4457" y="1006"/>
                  <a:pt x="2771" y="1022"/>
                  <a:pt x="1920" y="1024"/>
                </a:cubicBezTo>
                <a:lnTo>
                  <a:pt x="0" y="1020"/>
                </a:lnTo>
                <a:lnTo>
                  <a:pt x="0" y="759"/>
                </a:lnTo>
                <a:lnTo>
                  <a:pt x="0" y="317"/>
                </a:lnTo>
                <a:close/>
              </a:path>
            </a:pathLst>
          </a:custGeom>
          <a:solidFill>
            <a:srgbClr val="FFFFF3"/>
          </a:solidFill>
          <a:ln w="38100">
            <a:solidFill>
              <a:srgbClr val="33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3" name="Picture 2">
            <a:extLst>
              <a:ext uri="{FF2B5EF4-FFF2-40B4-BE49-F238E27FC236}">
                <a16:creationId xmlns:a16="http://schemas.microsoft.com/office/drawing/2014/main" id="{A63C0D78-BDAC-30A7-F1B9-A2F522149F9C}"/>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203726" y="6021288"/>
            <a:ext cx="5852159" cy="804672"/>
          </a:xfrm>
          <a:prstGeom prst="rect">
            <a:avLst/>
          </a:prstGeom>
        </p:spPr>
      </p:pic>
    </p:spTree>
    <p:custDataLst>
      <p:tags r:id="rId13"/>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cs typeface="Arial" charset="0"/>
        </a:defRPr>
      </a:lvl2pPr>
      <a:lvl3pPr algn="ctr" rtl="0" eaLnBrk="0" fontAlgn="base" hangingPunct="0">
        <a:spcBef>
          <a:spcPct val="0"/>
        </a:spcBef>
        <a:spcAft>
          <a:spcPct val="0"/>
        </a:spcAft>
        <a:defRPr sz="4400">
          <a:solidFill>
            <a:schemeClr val="tx2"/>
          </a:solidFill>
          <a:latin typeface="Arial" charset="0"/>
          <a:cs typeface="Arial" charset="0"/>
        </a:defRPr>
      </a:lvl3pPr>
      <a:lvl4pPr algn="ctr" rtl="0" eaLnBrk="0" fontAlgn="base" hangingPunct="0">
        <a:spcBef>
          <a:spcPct val="0"/>
        </a:spcBef>
        <a:spcAft>
          <a:spcPct val="0"/>
        </a:spcAft>
        <a:defRPr sz="4400">
          <a:solidFill>
            <a:schemeClr val="tx2"/>
          </a:solidFill>
          <a:latin typeface="Arial" charset="0"/>
          <a:cs typeface="Arial" charset="0"/>
        </a:defRPr>
      </a:lvl4pPr>
      <a:lvl5pPr algn="ctr" rtl="0" eaLnBrk="0" fontAlgn="base" hangingPunct="0">
        <a:spcBef>
          <a:spcPct val="0"/>
        </a:spcBef>
        <a:spcAft>
          <a:spcPct val="0"/>
        </a:spcAft>
        <a:defRPr sz="4400">
          <a:solidFill>
            <a:schemeClr val="tx2"/>
          </a:solidFill>
          <a:latin typeface="Arial" charset="0"/>
          <a:cs typeface="Arial" charset="0"/>
        </a:defRPr>
      </a:lvl5pPr>
      <a:lvl6pPr marL="457200" algn="ctr" rtl="0" fontAlgn="base">
        <a:spcBef>
          <a:spcPct val="0"/>
        </a:spcBef>
        <a:spcAft>
          <a:spcPct val="0"/>
        </a:spcAft>
        <a:defRPr sz="4400">
          <a:solidFill>
            <a:schemeClr val="tx2"/>
          </a:solidFill>
          <a:latin typeface="Arial" charset="0"/>
          <a:cs typeface="Arial" charset="0"/>
        </a:defRPr>
      </a:lvl6pPr>
      <a:lvl7pPr marL="914400" algn="ctr" rtl="0" fontAlgn="base">
        <a:spcBef>
          <a:spcPct val="0"/>
        </a:spcBef>
        <a:spcAft>
          <a:spcPct val="0"/>
        </a:spcAft>
        <a:defRPr sz="4400">
          <a:solidFill>
            <a:schemeClr val="tx2"/>
          </a:solidFill>
          <a:latin typeface="Arial" charset="0"/>
          <a:cs typeface="Arial" charset="0"/>
        </a:defRPr>
      </a:lvl7pPr>
      <a:lvl8pPr marL="1371600" algn="ctr" rtl="0" fontAlgn="base">
        <a:spcBef>
          <a:spcPct val="0"/>
        </a:spcBef>
        <a:spcAft>
          <a:spcPct val="0"/>
        </a:spcAft>
        <a:defRPr sz="4400">
          <a:solidFill>
            <a:schemeClr val="tx2"/>
          </a:solidFill>
          <a:latin typeface="Arial" charset="0"/>
          <a:cs typeface="Arial" charset="0"/>
        </a:defRPr>
      </a:lvl8pPr>
      <a:lvl9pPr marL="1828800" algn="ctr" rtl="0" fontAlgn="base">
        <a:spcBef>
          <a:spcPct val="0"/>
        </a:spcBef>
        <a:spcAft>
          <a:spcPct val="0"/>
        </a:spcAft>
        <a:defRPr sz="4400">
          <a:solidFill>
            <a:schemeClr val="tx2"/>
          </a:solidFill>
          <a:latin typeface="Arial" charset="0"/>
          <a:cs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Char char="•"/>
        <a:defRPr sz="24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13232" y="658368"/>
            <a:ext cx="5166360" cy="384048"/>
          </a:xfrm>
          <a:prstGeom prst="rect">
            <a:avLst/>
          </a:prstGeom>
          <a:noFill/>
        </p:spPr>
        <p:txBody>
          <a:bodyPr wrap="square" lIns="27432" rIns="27432" tIns="18288" bIns="18288">
            <a:spAutoFit/>
          </a:bodyPr>
          <a:lstStyle/>
          <a:p>
            <a:pPr>
              <a:lnSpc>
                <a:spcPct val="105000"/>
              </a:lnSpc>
              <a:spcAft>
                <a:spcPts val="300"/>
              </a:spcAft>
              <a:defRPr sz="1300" b="1">
                <a:solidFill>
                  <a:srgbClr val="437843"/>
                </a:solidFill>
                <a:latin typeface="Calibri"/>
              </a:defRPr>
            </a:pPr>
            <a:r>
              <a:t>10-minute conference presentation</a:t>
            </a:r>
          </a:p>
        </p:txBody>
      </p:sp>
      <p:sp>
        <p:nvSpPr>
          <p:cNvPr id="3" name="TextBox 2"/>
          <p:cNvSpPr txBox="1"/>
          <p:nvPr/>
        </p:nvSpPr>
        <p:spPr>
          <a:xfrm>
            <a:off x="713232" y="1078992"/>
            <a:ext cx="5440680" cy="1627632"/>
          </a:xfrm>
          <a:prstGeom prst="rect">
            <a:avLst/>
          </a:prstGeom>
          <a:noFill/>
        </p:spPr>
        <p:txBody>
          <a:bodyPr wrap="square" lIns="27432" rIns="27432" tIns="18288" bIns="18288">
            <a:spAutoFit/>
          </a:bodyPr>
          <a:lstStyle/>
          <a:p>
            <a:pPr>
              <a:lnSpc>
                <a:spcPct val="95000"/>
              </a:lnSpc>
              <a:spcAft>
                <a:spcPts val="500"/>
              </a:spcAft>
              <a:defRPr sz="2800" b="1">
                <a:solidFill>
                  <a:srgbClr val="202D2B"/>
                </a:solidFill>
                <a:latin typeface="Calibri"/>
              </a:defRPr>
            </a:pPr>
            <a:r>
              <a:t>Critical Analysis of European Digital Innovation Hubs in the Agri-Food Sector</a:t>
            </a:r>
          </a:p>
        </p:txBody>
      </p:sp>
      <p:sp>
        <p:nvSpPr>
          <p:cNvPr id="4" name="TextBox 3"/>
          <p:cNvSpPr txBox="1"/>
          <p:nvPr/>
        </p:nvSpPr>
        <p:spPr>
          <a:xfrm>
            <a:off x="749808" y="3611880"/>
            <a:ext cx="4800600" cy="749808"/>
          </a:xfrm>
          <a:prstGeom prst="rect">
            <a:avLst/>
          </a:prstGeom>
          <a:noFill/>
        </p:spPr>
        <p:txBody>
          <a:bodyPr wrap="square" lIns="27432" rIns="27432" tIns="18288" bIns="18288">
            <a:spAutoFit/>
          </a:bodyPr>
          <a:lstStyle/>
          <a:p>
            <a:pPr>
              <a:lnSpc>
                <a:spcPct val="105000"/>
              </a:lnSpc>
              <a:spcAft>
                <a:spcPts val="500"/>
              </a:spcAft>
              <a:defRPr sz="1400" b="0">
                <a:solidFill>
                  <a:srgbClr val="58635F"/>
                </a:solidFill>
                <a:latin typeface="Calibri"/>
              </a:defRPr>
            </a:pPr>
            <a:r>
              <a:t>Kostadin Penchev; Konstantin Stoyanov</a:t>
            </a:r>
          </a:p>
          <a:p>
            <a:pPr>
              <a:lnSpc>
                <a:spcPct val="105000"/>
              </a:lnSpc>
              <a:spcAft>
                <a:spcPts val="500"/>
              </a:spcAft>
              <a:defRPr sz="1400" b="0">
                <a:solidFill>
                  <a:srgbClr val="58635F"/>
                </a:solidFill>
                <a:latin typeface="Calibri"/>
              </a:defRPr>
            </a:pPr>
            <a:r>
              <a:t>Trakia University, Stara Zagora, Bulgaria</a:t>
            </a:r>
          </a:p>
        </p:txBody>
      </p:sp>
      <p:pic>
        <p:nvPicPr>
          <p:cNvPr id="5" name="Picture 4" descr="agri_digital_network.png"/>
          <p:cNvPicPr>
            <a:picLocks noChangeAspect="1"/>
          </p:cNvPicPr>
          <p:nvPr/>
        </p:nvPicPr>
        <p:blipFill>
          <a:blip r:embed="rId3"/>
          <a:stretch>
            <a:fillRect/>
          </a:stretch>
        </p:blipFill>
        <p:spPr>
          <a:xfrm>
            <a:off x="5257800" y="1234440"/>
            <a:ext cx="3291840" cy="2057400"/>
          </a:xfrm>
          <a:prstGeom prst="rect">
            <a:avLst/>
          </a:prstGeom>
        </p:spPr>
      </p:pic>
      <p:sp>
        <p:nvSpPr>
          <p:cNvPr id="6" name="Rounded Rectangle 5"/>
          <p:cNvSpPr/>
          <p:nvPr/>
        </p:nvSpPr>
        <p:spPr>
          <a:xfrm>
            <a:off x="5532120" y="3986784"/>
            <a:ext cx="914400" cy="658368"/>
          </a:xfrm>
          <a:prstGeom prst="roundRect">
            <a:avLst/>
          </a:prstGeom>
          <a:solidFill>
            <a:srgbClr val="FAFCF9"/>
          </a:solidFill>
          <a:ln w="6350">
            <a:solidFill>
              <a:srgbClr val="D2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2400">
                <a:solidFill>
                  <a:srgbClr val="416890"/>
                </a:solidFill>
                <a:latin typeface="Calibri"/>
              </a:defRPr>
            </a:pPr>
            <a:r>
              <a:t>6</a:t>
            </a:r>
          </a:p>
          <a:p>
            <a:pPr algn="ctr">
              <a:defRPr sz="950">
                <a:solidFill>
                  <a:srgbClr val="58635F"/>
                </a:solidFill>
                <a:latin typeface="Calibri"/>
              </a:defRPr>
            </a:pPr>
            <a:r>
              <a:t>country cases</a:t>
            </a:r>
          </a:p>
        </p:txBody>
      </p:sp>
      <p:sp>
        <p:nvSpPr>
          <p:cNvPr id="7" name="Rounded Rectangle 6"/>
          <p:cNvSpPr/>
          <p:nvPr/>
        </p:nvSpPr>
        <p:spPr>
          <a:xfrm>
            <a:off x="6601968" y="3986784"/>
            <a:ext cx="914400" cy="658368"/>
          </a:xfrm>
          <a:prstGeom prst="roundRect">
            <a:avLst/>
          </a:prstGeom>
          <a:solidFill>
            <a:srgbClr val="FAFCF9"/>
          </a:solidFill>
          <a:ln w="6350">
            <a:solidFill>
              <a:srgbClr val="D2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2400">
                <a:solidFill>
                  <a:srgbClr val="2E827E"/>
                </a:solidFill>
                <a:latin typeface="Calibri"/>
              </a:defRPr>
            </a:pPr>
            <a:r>
              <a:t>4</a:t>
            </a:r>
          </a:p>
          <a:p>
            <a:pPr algn="ctr">
              <a:defRPr sz="950">
                <a:solidFill>
                  <a:srgbClr val="58635F"/>
                </a:solidFill>
                <a:latin typeface="Calibri"/>
              </a:defRPr>
            </a:pPr>
            <a:r>
              <a:t>evaluation criteria</a:t>
            </a:r>
          </a:p>
        </p:txBody>
      </p:sp>
      <p:sp>
        <p:nvSpPr>
          <p:cNvPr id="8" name="Rounded Rectangle 7"/>
          <p:cNvSpPr/>
          <p:nvPr/>
        </p:nvSpPr>
        <p:spPr>
          <a:xfrm>
            <a:off x="7671816" y="3986784"/>
            <a:ext cx="914400" cy="658368"/>
          </a:xfrm>
          <a:prstGeom prst="roundRect">
            <a:avLst/>
          </a:prstGeom>
          <a:solidFill>
            <a:srgbClr val="FAFCF9"/>
          </a:solidFill>
          <a:ln w="6350">
            <a:solidFill>
              <a:srgbClr val="D2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2400">
                <a:solidFill>
                  <a:srgbClr val="E08E41"/>
                </a:solidFill>
                <a:latin typeface="Calibri"/>
              </a:defRPr>
            </a:pPr>
            <a:r>
              <a:t>10</a:t>
            </a:r>
          </a:p>
          <a:p>
            <a:pPr algn="ctr">
              <a:defRPr sz="950">
                <a:solidFill>
                  <a:srgbClr val="58635F"/>
                </a:solidFill>
                <a:latin typeface="Calibri"/>
              </a:defRPr>
            </a:pPr>
            <a:r>
              <a:t>minutes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47472"/>
            <a:ext cx="7955279" cy="621792"/>
          </a:xfrm>
          <a:prstGeom prst="rect">
            <a:avLst/>
          </a:prstGeom>
          <a:noFill/>
        </p:spPr>
        <p:txBody>
          <a:bodyPr wrap="none">
            <a:spAutoFit/>
          </a:bodyPr>
          <a:lstStyle/>
          <a:p>
            <a:pPr algn="l">
              <a:defRPr b="1" sz="3000">
                <a:solidFill>
                  <a:srgbClr val="202D2B"/>
                </a:solidFill>
                <a:latin typeface="Calibri"/>
              </a:defRPr>
            </a:pPr>
            <a:r>
              <a:t>Research Problem</a:t>
            </a:r>
          </a:p>
          <a:p>
            <a:pPr>
              <a:spcBef>
                <a:spcPts val="300"/>
              </a:spcBef>
              <a:defRPr sz="1200">
                <a:solidFill>
                  <a:srgbClr val="58635F"/>
                </a:solidFill>
                <a:latin typeface="Calibri"/>
              </a:defRPr>
            </a:pPr>
            <a:r>
              <a:t>Why EDIH effectiveness matters for agri-food digitalization</a:t>
            </a:r>
          </a:p>
        </p:txBody>
      </p:sp>
      <p:sp>
        <p:nvSpPr>
          <p:cNvPr id="3" name="TextBox 2"/>
          <p:cNvSpPr txBox="1"/>
          <p:nvPr/>
        </p:nvSpPr>
        <p:spPr>
          <a:xfrm>
            <a:off x="713232" y="1207008"/>
            <a:ext cx="4617720" cy="2148840"/>
          </a:xfrm>
          <a:prstGeom prst="rect">
            <a:avLst/>
          </a:prstGeom>
          <a:noFill/>
        </p:spPr>
        <p:txBody>
          <a:bodyPr wrap="square" lIns="27432" rIns="27432" tIns="18288" bIns="18288">
            <a:spAutoFit/>
          </a:bodyPr>
          <a:lstStyle/>
          <a:p>
            <a:pPr>
              <a:lnSpc>
                <a:spcPct val="105000"/>
              </a:lnSpc>
              <a:spcAft>
                <a:spcPts val="500"/>
              </a:spcAft>
              <a:defRPr sz="1600" b="0">
                <a:solidFill>
                  <a:srgbClr val="202D2B"/>
                </a:solidFill>
                <a:latin typeface="Calibri"/>
              </a:defRPr>
            </a:pPr>
            <a:r>
              <a:t>Digital transformation is now a strategic priority in European agriculture.</a:t>
            </a:r>
          </a:p>
          <a:p>
            <a:pPr>
              <a:lnSpc>
                <a:spcPct val="105000"/>
              </a:lnSpc>
              <a:spcAft>
                <a:spcPts val="500"/>
              </a:spcAft>
              <a:defRPr sz="1600" b="0">
                <a:solidFill>
                  <a:srgbClr val="202D2B"/>
                </a:solidFill>
                <a:latin typeface="Calibri"/>
              </a:defRPr>
            </a:pPr>
            <a:r>
              <a:t>Yet adoption remains uneven, especially among small and medium-sized farms.</a:t>
            </a:r>
          </a:p>
          <a:p>
            <a:pPr>
              <a:lnSpc>
                <a:spcPct val="105000"/>
              </a:lnSpc>
              <a:spcAft>
                <a:spcPts val="500"/>
              </a:spcAft>
              <a:defRPr sz="1600" b="0">
                <a:solidFill>
                  <a:srgbClr val="202D2B"/>
                </a:solidFill>
                <a:latin typeface="Calibri"/>
              </a:defRPr>
            </a:pPr>
            <a:r>
              <a:t>The main barriers are not only technical: cost, uncertain returns, skills gaps and fragmented support limit uptake.</a:t>
            </a:r>
          </a:p>
        </p:txBody>
      </p:sp>
      <p:sp>
        <p:nvSpPr>
          <p:cNvPr id="4" name="Rounded Rectangle 3"/>
          <p:cNvSpPr/>
          <p:nvPr/>
        </p:nvSpPr>
        <p:spPr>
          <a:xfrm>
            <a:off x="5669280" y="1261872"/>
            <a:ext cx="2606040" cy="822960"/>
          </a:xfrm>
          <a:prstGeom prst="roundRect">
            <a:avLst/>
          </a:prstGeom>
          <a:solidFill>
            <a:srgbClr val="FAFCF9"/>
          </a:solidFill>
          <a:ln w="7620">
            <a:solidFill>
              <a:srgbClr val="D2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0" y="1261872"/>
            <a:ext cx="73152" cy="822960"/>
          </a:xfrm>
          <a:prstGeom prst="rect">
            <a:avLst/>
          </a:prstGeom>
          <a:solidFill>
            <a:srgbClr val="437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70448" y="1371600"/>
            <a:ext cx="2276856" cy="658368"/>
          </a:xfrm>
          <a:prstGeom prst="rect">
            <a:avLst/>
          </a:prstGeom>
          <a:noFill/>
        </p:spPr>
        <p:txBody>
          <a:bodyPr wrap="square" lIns="27432" rIns="27432" tIns="18288" bIns="18288">
            <a:spAutoFit/>
          </a:bodyPr>
          <a:lstStyle/>
          <a:p>
            <a:pPr>
              <a:lnSpc>
                <a:spcPct val="105000"/>
              </a:lnSpc>
              <a:spcAft>
                <a:spcPts val="300"/>
              </a:spcAft>
              <a:defRPr sz="1200" b="1">
                <a:solidFill>
                  <a:srgbClr val="202D2B"/>
                </a:solidFill>
                <a:latin typeface="Calibri"/>
              </a:defRPr>
            </a:pPr>
            <a:r>
              <a:t>Adoption is socio-technical</a:t>
            </a:r>
          </a:p>
          <a:p>
            <a:pPr>
              <a:lnSpc>
                <a:spcPct val="105000"/>
              </a:lnSpc>
              <a:spcAft>
                <a:spcPts val="300"/>
              </a:spcAft>
              <a:defRPr sz="1200" b="0">
                <a:solidFill>
                  <a:srgbClr val="202D2B"/>
                </a:solidFill>
                <a:latin typeface="Calibri"/>
              </a:defRPr>
            </a:pPr>
            <a:r>
              <a:t>technology + economics + routines</a:t>
            </a:r>
          </a:p>
        </p:txBody>
      </p:sp>
      <p:sp>
        <p:nvSpPr>
          <p:cNvPr id="7" name="Rounded Rectangle 6"/>
          <p:cNvSpPr/>
          <p:nvPr/>
        </p:nvSpPr>
        <p:spPr>
          <a:xfrm>
            <a:off x="5669280" y="2331720"/>
            <a:ext cx="2606040" cy="822960"/>
          </a:xfrm>
          <a:prstGeom prst="roundRect">
            <a:avLst/>
          </a:prstGeom>
          <a:solidFill>
            <a:srgbClr val="FAFCF9"/>
          </a:solidFill>
          <a:ln w="7620">
            <a:solidFill>
              <a:srgbClr val="D2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0" y="2331720"/>
            <a:ext cx="73152" cy="822960"/>
          </a:xfrm>
          <a:prstGeom prst="rect">
            <a:avLst/>
          </a:prstGeom>
          <a:solidFill>
            <a:srgbClr val="2E8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870448" y="2441448"/>
            <a:ext cx="2276856" cy="658368"/>
          </a:xfrm>
          <a:prstGeom prst="rect">
            <a:avLst/>
          </a:prstGeom>
          <a:noFill/>
        </p:spPr>
        <p:txBody>
          <a:bodyPr wrap="square" lIns="27432" rIns="27432" tIns="18288" bIns="18288">
            <a:spAutoFit/>
          </a:bodyPr>
          <a:lstStyle/>
          <a:p>
            <a:pPr>
              <a:lnSpc>
                <a:spcPct val="105000"/>
              </a:lnSpc>
              <a:spcAft>
                <a:spcPts val="300"/>
              </a:spcAft>
              <a:defRPr sz="1200" b="1">
                <a:solidFill>
                  <a:srgbClr val="202D2B"/>
                </a:solidFill>
                <a:latin typeface="Calibri"/>
              </a:defRPr>
            </a:pPr>
            <a:r>
              <a:t>Small farms need mediation</a:t>
            </a:r>
          </a:p>
          <a:p>
            <a:pPr>
              <a:lnSpc>
                <a:spcPct val="105000"/>
              </a:lnSpc>
              <a:spcAft>
                <a:spcPts val="300"/>
              </a:spcAft>
              <a:defRPr sz="1200" b="0">
                <a:solidFill>
                  <a:srgbClr val="202D2B"/>
                </a:solidFill>
                <a:latin typeface="Calibri"/>
              </a:defRPr>
            </a:pPr>
            <a:r>
              <a:t>testing, advice and trusted support</a:t>
            </a:r>
          </a:p>
        </p:txBody>
      </p:sp>
      <p:sp>
        <p:nvSpPr>
          <p:cNvPr id="10" name="Rounded Rectangle 9"/>
          <p:cNvSpPr/>
          <p:nvPr/>
        </p:nvSpPr>
        <p:spPr>
          <a:xfrm>
            <a:off x="5669280" y="3401568"/>
            <a:ext cx="2606040" cy="822960"/>
          </a:xfrm>
          <a:prstGeom prst="roundRect">
            <a:avLst/>
          </a:prstGeom>
          <a:solidFill>
            <a:srgbClr val="FAFCF9"/>
          </a:solidFill>
          <a:ln w="7620">
            <a:solidFill>
              <a:srgbClr val="D2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0" y="3401568"/>
            <a:ext cx="73152" cy="822960"/>
          </a:xfrm>
          <a:prstGeom prst="rect">
            <a:avLst/>
          </a:prstGeom>
          <a:solidFill>
            <a:srgbClr val="E08E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70448" y="3511296"/>
            <a:ext cx="2276856" cy="658368"/>
          </a:xfrm>
          <a:prstGeom prst="rect">
            <a:avLst/>
          </a:prstGeom>
          <a:noFill/>
        </p:spPr>
        <p:txBody>
          <a:bodyPr wrap="square" lIns="27432" rIns="27432" tIns="18288" bIns="18288">
            <a:spAutoFit/>
          </a:bodyPr>
          <a:lstStyle/>
          <a:p>
            <a:pPr>
              <a:lnSpc>
                <a:spcPct val="105000"/>
              </a:lnSpc>
              <a:spcAft>
                <a:spcPts val="300"/>
              </a:spcAft>
              <a:defRPr sz="1200" b="1">
                <a:solidFill>
                  <a:srgbClr val="202D2B"/>
                </a:solidFill>
                <a:latin typeface="Calibri"/>
              </a:defRPr>
            </a:pPr>
            <a:r>
              <a:t>Assessment lens</a:t>
            </a:r>
          </a:p>
          <a:p>
            <a:pPr>
              <a:lnSpc>
                <a:spcPct val="105000"/>
              </a:lnSpc>
              <a:spcAft>
                <a:spcPts val="300"/>
              </a:spcAft>
              <a:defRPr sz="1200" b="0">
                <a:solidFill>
                  <a:srgbClr val="202D2B"/>
                </a:solidFill>
                <a:latin typeface="Calibri"/>
              </a:defRPr>
            </a:pPr>
            <a:r>
              <a:t>accessibility and inclusion</a:t>
            </a:r>
          </a:p>
        </p:txBody>
      </p:sp>
      <p:sp>
        <p:nvSpPr>
          <p:cNvPr id="13" name="TextBox 12"/>
          <p:cNvSpPr txBox="1"/>
          <p:nvPr/>
        </p:nvSpPr>
        <p:spPr>
          <a:xfrm>
            <a:off x="749808" y="4224528"/>
            <a:ext cx="4526280" cy="594360"/>
          </a:xfrm>
          <a:prstGeom prst="rect">
            <a:avLst/>
          </a:prstGeom>
          <a:noFill/>
        </p:spPr>
        <p:txBody>
          <a:bodyPr wrap="square" lIns="27432" rIns="27432" tIns="18288" bIns="18288">
            <a:spAutoFit/>
          </a:bodyPr>
          <a:lstStyle/>
          <a:p>
            <a:pPr>
              <a:lnSpc>
                <a:spcPct val="105000"/>
              </a:lnSpc>
              <a:spcAft>
                <a:spcPts val="500"/>
              </a:spcAft>
              <a:defRPr sz="1500" b="1">
                <a:solidFill>
                  <a:srgbClr val="437843"/>
                </a:solidFill>
                <a:latin typeface="Calibri"/>
              </a:defRPr>
            </a:pPr>
            <a:r>
              <a:t>Core question: do EDIHs create practical conditions for inclusive agri-food digital uptake?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47472"/>
            <a:ext cx="7955279" cy="621792"/>
          </a:xfrm>
          <a:prstGeom prst="rect">
            <a:avLst/>
          </a:prstGeom>
          <a:noFill/>
        </p:spPr>
        <p:txBody>
          <a:bodyPr wrap="none">
            <a:spAutoFit/>
          </a:bodyPr>
          <a:lstStyle/>
          <a:p>
            <a:pPr algn="l">
              <a:defRPr b="1" sz="3000">
                <a:solidFill>
                  <a:srgbClr val="202D2B"/>
                </a:solidFill>
                <a:latin typeface="Calibri"/>
              </a:defRPr>
            </a:pPr>
            <a:r>
              <a:t>Aim and Contribution</a:t>
            </a:r>
          </a:p>
        </p:txBody>
      </p:sp>
      <p:sp>
        <p:nvSpPr>
          <p:cNvPr id="3" name="TextBox 2"/>
          <p:cNvSpPr txBox="1"/>
          <p:nvPr/>
        </p:nvSpPr>
        <p:spPr>
          <a:xfrm>
            <a:off x="713232" y="1170432"/>
            <a:ext cx="4480560" cy="1417320"/>
          </a:xfrm>
          <a:prstGeom prst="rect">
            <a:avLst/>
          </a:prstGeom>
          <a:noFill/>
        </p:spPr>
        <p:txBody>
          <a:bodyPr wrap="square" lIns="27432" rIns="27432" tIns="18288" bIns="18288">
            <a:spAutoFit/>
          </a:bodyPr>
          <a:lstStyle/>
          <a:p>
            <a:pPr>
              <a:lnSpc>
                <a:spcPct val="105000"/>
              </a:lnSpc>
              <a:spcAft>
                <a:spcPts val="500"/>
              </a:spcAft>
              <a:defRPr sz="1600" b="0">
                <a:solidFill>
                  <a:srgbClr val="202D2B"/>
                </a:solidFill>
                <a:latin typeface="Calibri"/>
              </a:defRPr>
            </a:pPr>
            <a:r>
              <a:t>Aim: critically assess the potential of EDIHs to support the agri-food digital transition.</a:t>
            </a:r>
          </a:p>
          <a:p>
            <a:pPr>
              <a:lnSpc>
                <a:spcPct val="105000"/>
              </a:lnSpc>
              <a:spcAft>
                <a:spcPts val="500"/>
              </a:spcAft>
              <a:defRPr sz="1600" b="0">
                <a:solidFill>
                  <a:srgbClr val="202D2B"/>
                </a:solidFill>
                <a:latin typeface="Calibri"/>
              </a:defRPr>
            </a:pPr>
            <a:r>
              <a:t>The presentation compares Bulgaria, Romania, Slovenia, Greece, Spain and Turkey.</a:t>
            </a:r>
          </a:p>
        </p:txBody>
      </p:sp>
      <p:sp>
        <p:nvSpPr>
          <p:cNvPr id="4" name="Rounded Rectangle 3"/>
          <p:cNvSpPr/>
          <p:nvPr/>
        </p:nvSpPr>
        <p:spPr>
          <a:xfrm>
            <a:off x="786384" y="2880360"/>
            <a:ext cx="2331720" cy="841248"/>
          </a:xfrm>
          <a:prstGeom prst="roundRect">
            <a:avLst/>
          </a:prstGeom>
          <a:solidFill>
            <a:srgbClr val="FAFCF9"/>
          </a:solidFill>
          <a:ln w="7620">
            <a:solidFill>
              <a:srgbClr val="D2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86384" y="2880360"/>
            <a:ext cx="73152" cy="841248"/>
          </a:xfrm>
          <a:prstGeom prst="rect">
            <a:avLst/>
          </a:prstGeom>
          <a:solidFill>
            <a:srgbClr val="4168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87552" y="2990088"/>
            <a:ext cx="2002536" cy="676656"/>
          </a:xfrm>
          <a:prstGeom prst="rect">
            <a:avLst/>
          </a:prstGeom>
          <a:noFill/>
        </p:spPr>
        <p:txBody>
          <a:bodyPr wrap="square" lIns="27432" rIns="27432" tIns="18288" bIns="18288">
            <a:spAutoFit/>
          </a:bodyPr>
          <a:lstStyle/>
          <a:p>
            <a:pPr>
              <a:lnSpc>
                <a:spcPct val="105000"/>
              </a:lnSpc>
              <a:spcAft>
                <a:spcPts val="300"/>
              </a:spcAft>
              <a:defRPr sz="1200" b="1">
                <a:solidFill>
                  <a:srgbClr val="202D2B"/>
                </a:solidFill>
                <a:latin typeface="Calibri"/>
              </a:defRPr>
            </a:pPr>
            <a:r>
              <a:t>Contribution 1</a:t>
            </a:r>
          </a:p>
          <a:p>
            <a:pPr>
              <a:lnSpc>
                <a:spcPct val="105000"/>
              </a:lnSpc>
              <a:spcAft>
                <a:spcPts val="300"/>
              </a:spcAft>
              <a:defRPr sz="1200" b="0">
                <a:solidFill>
                  <a:srgbClr val="202D2B"/>
                </a:solidFill>
                <a:latin typeface="Calibri"/>
              </a:defRPr>
            </a:pPr>
            <a:r>
              <a:t>moves from description to evaluation</a:t>
            </a:r>
          </a:p>
        </p:txBody>
      </p:sp>
      <p:sp>
        <p:nvSpPr>
          <p:cNvPr id="7" name="Rounded Rectangle 6"/>
          <p:cNvSpPr/>
          <p:nvPr/>
        </p:nvSpPr>
        <p:spPr>
          <a:xfrm>
            <a:off x="3337560" y="2880360"/>
            <a:ext cx="2331720" cy="841248"/>
          </a:xfrm>
          <a:prstGeom prst="roundRect">
            <a:avLst/>
          </a:prstGeom>
          <a:solidFill>
            <a:srgbClr val="FAFCF9"/>
          </a:solidFill>
          <a:ln w="7620">
            <a:solidFill>
              <a:srgbClr val="D2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337560" y="2880360"/>
            <a:ext cx="73152" cy="841248"/>
          </a:xfrm>
          <a:prstGeom prst="rect">
            <a:avLst/>
          </a:prstGeom>
          <a:solidFill>
            <a:srgbClr val="2E8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38728" y="2990088"/>
            <a:ext cx="2002536" cy="676656"/>
          </a:xfrm>
          <a:prstGeom prst="rect">
            <a:avLst/>
          </a:prstGeom>
          <a:noFill/>
        </p:spPr>
        <p:txBody>
          <a:bodyPr wrap="square" lIns="27432" rIns="27432" tIns="18288" bIns="18288">
            <a:spAutoFit/>
          </a:bodyPr>
          <a:lstStyle/>
          <a:p>
            <a:pPr>
              <a:lnSpc>
                <a:spcPct val="105000"/>
              </a:lnSpc>
              <a:spcAft>
                <a:spcPts val="300"/>
              </a:spcAft>
              <a:defRPr sz="1200" b="1">
                <a:solidFill>
                  <a:srgbClr val="202D2B"/>
                </a:solidFill>
                <a:latin typeface="Calibri"/>
              </a:defRPr>
            </a:pPr>
            <a:r>
              <a:t>Contribution 2</a:t>
            </a:r>
          </a:p>
          <a:p>
            <a:pPr>
              <a:lnSpc>
                <a:spcPct val="105000"/>
              </a:lnSpc>
              <a:spcAft>
                <a:spcPts val="300"/>
              </a:spcAft>
              <a:defRPr sz="1200" b="0">
                <a:solidFill>
                  <a:srgbClr val="202D2B"/>
                </a:solidFill>
                <a:latin typeface="Calibri"/>
              </a:defRPr>
            </a:pPr>
            <a:r>
              <a:t>links EDIHs to rural inclusion</a:t>
            </a:r>
          </a:p>
        </p:txBody>
      </p:sp>
      <p:sp>
        <p:nvSpPr>
          <p:cNvPr id="10" name="Rounded Rectangle 9"/>
          <p:cNvSpPr/>
          <p:nvPr/>
        </p:nvSpPr>
        <p:spPr>
          <a:xfrm>
            <a:off x="5888736" y="2880360"/>
            <a:ext cx="2331720" cy="841248"/>
          </a:xfrm>
          <a:prstGeom prst="roundRect">
            <a:avLst/>
          </a:prstGeom>
          <a:solidFill>
            <a:srgbClr val="FAFCF9"/>
          </a:solidFill>
          <a:ln w="7620">
            <a:solidFill>
              <a:srgbClr val="D2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888736" y="2880360"/>
            <a:ext cx="73152" cy="841248"/>
          </a:xfrm>
          <a:prstGeom prst="rect">
            <a:avLst/>
          </a:prstGeom>
          <a:solidFill>
            <a:srgbClr val="E08E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89904" y="2990088"/>
            <a:ext cx="2002536" cy="676656"/>
          </a:xfrm>
          <a:prstGeom prst="rect">
            <a:avLst/>
          </a:prstGeom>
          <a:noFill/>
        </p:spPr>
        <p:txBody>
          <a:bodyPr wrap="square" lIns="27432" rIns="27432" tIns="18288" bIns="18288">
            <a:spAutoFit/>
          </a:bodyPr>
          <a:lstStyle/>
          <a:p>
            <a:pPr>
              <a:lnSpc>
                <a:spcPct val="105000"/>
              </a:lnSpc>
              <a:spcAft>
                <a:spcPts val="300"/>
              </a:spcAft>
              <a:defRPr sz="1200" b="1">
                <a:solidFill>
                  <a:srgbClr val="202D2B"/>
                </a:solidFill>
                <a:latin typeface="Calibri"/>
              </a:defRPr>
            </a:pPr>
            <a:r>
              <a:t>Contribution 3</a:t>
            </a:r>
          </a:p>
          <a:p>
            <a:pPr>
              <a:lnSpc>
                <a:spcPct val="105000"/>
              </a:lnSpc>
              <a:spcAft>
                <a:spcPts val="300"/>
              </a:spcAft>
              <a:defRPr sz="1200" b="0">
                <a:solidFill>
                  <a:srgbClr val="202D2B"/>
                </a:solidFill>
                <a:latin typeface="Calibri"/>
              </a:defRPr>
            </a:pPr>
            <a:r>
              <a:t>compares different ecosystem conditions</a:t>
            </a:r>
          </a:p>
        </p:txBody>
      </p:sp>
      <p:sp>
        <p:nvSpPr>
          <p:cNvPr id="13" name="Rounded Rectangle 12"/>
          <p:cNvSpPr/>
          <p:nvPr/>
        </p:nvSpPr>
        <p:spPr>
          <a:xfrm>
            <a:off x="822960" y="4160520"/>
            <a:ext cx="1234440" cy="310896"/>
          </a:xfrm>
          <a:prstGeom prst="roundRect">
            <a:avLst/>
          </a:prstGeom>
          <a:solidFill>
            <a:srgbClr val="F2F6F0"/>
          </a:solidFill>
          <a:ln w="5080">
            <a:solidFill>
              <a:srgbClr val="D2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a:solidFill>
                  <a:srgbClr val="202D2B"/>
                </a:solidFill>
              </a:defRPr>
            </a:pPr>
            <a:r>
              <a:t>Bulgaria</a:t>
            </a:r>
          </a:p>
        </p:txBody>
      </p:sp>
      <p:sp>
        <p:nvSpPr>
          <p:cNvPr id="14" name="Rounded Rectangle 13"/>
          <p:cNvSpPr/>
          <p:nvPr/>
        </p:nvSpPr>
        <p:spPr>
          <a:xfrm>
            <a:off x="2395728" y="4160520"/>
            <a:ext cx="1234440" cy="310896"/>
          </a:xfrm>
          <a:prstGeom prst="roundRect">
            <a:avLst/>
          </a:prstGeom>
          <a:solidFill>
            <a:srgbClr val="F2F6F0"/>
          </a:solidFill>
          <a:ln w="5080">
            <a:solidFill>
              <a:srgbClr val="D2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a:solidFill>
                  <a:srgbClr val="202D2B"/>
                </a:solidFill>
              </a:defRPr>
            </a:pPr>
            <a:r>
              <a:t>Romania</a:t>
            </a:r>
          </a:p>
        </p:txBody>
      </p:sp>
      <p:sp>
        <p:nvSpPr>
          <p:cNvPr id="15" name="Rounded Rectangle 14"/>
          <p:cNvSpPr/>
          <p:nvPr/>
        </p:nvSpPr>
        <p:spPr>
          <a:xfrm>
            <a:off x="3968496" y="4160520"/>
            <a:ext cx="1234440" cy="310896"/>
          </a:xfrm>
          <a:prstGeom prst="roundRect">
            <a:avLst/>
          </a:prstGeom>
          <a:solidFill>
            <a:srgbClr val="F2F6F0"/>
          </a:solidFill>
          <a:ln w="5080">
            <a:solidFill>
              <a:srgbClr val="D2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a:solidFill>
                  <a:srgbClr val="202D2B"/>
                </a:solidFill>
              </a:defRPr>
            </a:pPr>
            <a:r>
              <a:t>Slovenia</a:t>
            </a:r>
          </a:p>
        </p:txBody>
      </p:sp>
      <p:sp>
        <p:nvSpPr>
          <p:cNvPr id="16" name="Rounded Rectangle 15"/>
          <p:cNvSpPr/>
          <p:nvPr/>
        </p:nvSpPr>
        <p:spPr>
          <a:xfrm>
            <a:off x="822960" y="4581144"/>
            <a:ext cx="1234440" cy="310896"/>
          </a:xfrm>
          <a:prstGeom prst="roundRect">
            <a:avLst/>
          </a:prstGeom>
          <a:solidFill>
            <a:srgbClr val="F2F6F0"/>
          </a:solidFill>
          <a:ln w="5080">
            <a:solidFill>
              <a:srgbClr val="D2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a:solidFill>
                  <a:srgbClr val="202D2B"/>
                </a:solidFill>
              </a:defRPr>
            </a:pPr>
            <a:r>
              <a:t>Greece</a:t>
            </a:r>
          </a:p>
        </p:txBody>
      </p:sp>
      <p:sp>
        <p:nvSpPr>
          <p:cNvPr id="17" name="Rounded Rectangle 16"/>
          <p:cNvSpPr/>
          <p:nvPr/>
        </p:nvSpPr>
        <p:spPr>
          <a:xfrm>
            <a:off x="2395728" y="4581144"/>
            <a:ext cx="1234440" cy="310896"/>
          </a:xfrm>
          <a:prstGeom prst="roundRect">
            <a:avLst/>
          </a:prstGeom>
          <a:solidFill>
            <a:srgbClr val="F2F6F0"/>
          </a:solidFill>
          <a:ln w="5080">
            <a:solidFill>
              <a:srgbClr val="D2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a:solidFill>
                  <a:srgbClr val="202D2B"/>
                </a:solidFill>
              </a:defRPr>
            </a:pPr>
            <a:r>
              <a:t>Spain</a:t>
            </a:r>
          </a:p>
        </p:txBody>
      </p:sp>
      <p:sp>
        <p:nvSpPr>
          <p:cNvPr id="18" name="Rounded Rectangle 17"/>
          <p:cNvSpPr/>
          <p:nvPr/>
        </p:nvSpPr>
        <p:spPr>
          <a:xfrm>
            <a:off x="3968496" y="4581144"/>
            <a:ext cx="1234440" cy="310896"/>
          </a:xfrm>
          <a:prstGeom prst="roundRect">
            <a:avLst/>
          </a:prstGeom>
          <a:solidFill>
            <a:srgbClr val="F2F6F0"/>
          </a:solidFill>
          <a:ln w="5080">
            <a:solidFill>
              <a:srgbClr val="D2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a:solidFill>
                  <a:srgbClr val="202D2B"/>
                </a:solidFill>
              </a:defRPr>
            </a:pPr>
            <a:r>
              <a:t>Turkey</a:t>
            </a:r>
          </a:p>
        </p:txBody>
      </p:sp>
      <p:pic>
        <p:nvPicPr>
          <p:cNvPr id="19" name="Picture 18" descr="country_network.png"/>
          <p:cNvPicPr>
            <a:picLocks noChangeAspect="1"/>
          </p:cNvPicPr>
          <p:nvPr/>
        </p:nvPicPr>
        <p:blipFill>
          <a:blip r:embed="rId3"/>
          <a:stretch>
            <a:fillRect/>
          </a:stretch>
        </p:blipFill>
        <p:spPr>
          <a:xfrm>
            <a:off x="5349240" y="1051560"/>
            <a:ext cx="3063240" cy="142646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47472"/>
            <a:ext cx="7955279" cy="621792"/>
          </a:xfrm>
          <a:prstGeom prst="rect">
            <a:avLst/>
          </a:prstGeom>
          <a:noFill/>
        </p:spPr>
        <p:txBody>
          <a:bodyPr wrap="none">
            <a:spAutoFit/>
          </a:bodyPr>
          <a:lstStyle/>
          <a:p>
            <a:pPr algn="l">
              <a:defRPr b="1" sz="3000">
                <a:solidFill>
                  <a:srgbClr val="202D2B"/>
                </a:solidFill>
                <a:latin typeface="Calibri"/>
              </a:defRPr>
            </a:pPr>
            <a:r>
              <a:t>Materials and Methods</a:t>
            </a:r>
          </a:p>
          <a:p>
            <a:pPr>
              <a:spcBef>
                <a:spcPts val="300"/>
              </a:spcBef>
              <a:defRPr sz="1200">
                <a:solidFill>
                  <a:srgbClr val="58635F"/>
                </a:solidFill>
                <a:latin typeface="Calibri"/>
              </a:defRPr>
            </a:pPr>
            <a:r>
              <a:t>Qualitative comparative design</a:t>
            </a:r>
          </a:p>
        </p:txBody>
      </p:sp>
      <p:sp>
        <p:nvSpPr>
          <p:cNvPr id="3" name="TextBox 2"/>
          <p:cNvSpPr txBox="1"/>
          <p:nvPr/>
        </p:nvSpPr>
        <p:spPr>
          <a:xfrm>
            <a:off x="713232" y="1143000"/>
            <a:ext cx="3931920" cy="1143000"/>
          </a:xfrm>
          <a:prstGeom prst="rect">
            <a:avLst/>
          </a:prstGeom>
          <a:noFill/>
        </p:spPr>
        <p:txBody>
          <a:bodyPr wrap="square" lIns="27432" rIns="27432" tIns="18288" bIns="18288">
            <a:spAutoFit/>
          </a:bodyPr>
          <a:lstStyle/>
          <a:p>
            <a:pPr>
              <a:lnSpc>
                <a:spcPct val="105000"/>
              </a:lnSpc>
              <a:spcAft>
                <a:spcPts val="500"/>
              </a:spcAft>
              <a:defRPr sz="1550" b="0">
                <a:solidFill>
                  <a:srgbClr val="202D2B"/>
                </a:solidFill>
                <a:latin typeface="Calibri"/>
              </a:defRPr>
            </a:pPr>
            <a:r>
              <a:t>Evidence base combines peer-reviewed literature with institutional and policy documents.</a:t>
            </a:r>
          </a:p>
          <a:p>
            <a:pPr>
              <a:lnSpc>
                <a:spcPct val="105000"/>
              </a:lnSpc>
              <a:spcAft>
                <a:spcPts val="500"/>
              </a:spcAft>
              <a:defRPr sz="1550" b="0">
                <a:solidFill>
                  <a:srgbClr val="202D2B"/>
                </a:solidFill>
                <a:latin typeface="Calibri"/>
              </a:defRPr>
            </a:pPr>
            <a:r>
              <a:t>The six cases were selected to capture different agri-food innovation ecosystems.</a:t>
            </a:r>
          </a:p>
        </p:txBody>
      </p:sp>
      <p:sp>
        <p:nvSpPr>
          <p:cNvPr id="4" name="Oval 3"/>
          <p:cNvSpPr/>
          <p:nvPr/>
        </p:nvSpPr>
        <p:spPr>
          <a:xfrm>
            <a:off x="822960" y="2761488"/>
            <a:ext cx="438912" cy="438912"/>
          </a:xfrm>
          <a:prstGeom prst="ellipse">
            <a:avLst/>
          </a:prstGeom>
          <a:solidFill>
            <a:srgbClr val="4168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300">
                <a:solidFill>
                  <a:srgbClr val="FFFFFF"/>
                </a:solidFill>
              </a:defRPr>
            </a:pPr>
            <a:r>
              <a:t>1</a:t>
            </a:r>
          </a:p>
        </p:txBody>
      </p:sp>
      <p:sp>
        <p:nvSpPr>
          <p:cNvPr id="5" name="TextBox 4"/>
          <p:cNvSpPr txBox="1"/>
          <p:nvPr/>
        </p:nvSpPr>
        <p:spPr>
          <a:xfrm>
            <a:off x="1371600" y="2688336"/>
            <a:ext cx="1920240" cy="786384"/>
          </a:xfrm>
          <a:prstGeom prst="rect">
            <a:avLst/>
          </a:prstGeom>
          <a:noFill/>
        </p:spPr>
        <p:txBody>
          <a:bodyPr wrap="square" lIns="27432" rIns="27432" tIns="18288" bIns="18288">
            <a:spAutoFit/>
          </a:bodyPr>
          <a:lstStyle/>
          <a:p>
            <a:pPr>
              <a:lnSpc>
                <a:spcPct val="105000"/>
              </a:lnSpc>
              <a:spcAft>
                <a:spcPts val="300"/>
              </a:spcAft>
              <a:defRPr sz="1150" b="1">
                <a:solidFill>
                  <a:srgbClr val="202D2B"/>
                </a:solidFill>
                <a:latin typeface="Calibri"/>
              </a:defRPr>
            </a:pPr>
            <a:r>
              <a:t>Review</a:t>
            </a:r>
          </a:p>
          <a:p>
            <a:pPr>
              <a:lnSpc>
                <a:spcPct val="105000"/>
              </a:lnSpc>
              <a:spcAft>
                <a:spcPts val="300"/>
              </a:spcAft>
              <a:defRPr sz="1150" b="0">
                <a:solidFill>
                  <a:srgbClr val="202D2B"/>
                </a:solidFill>
                <a:latin typeface="Calibri"/>
              </a:defRPr>
            </a:pPr>
            <a:r>
              <a:t>scientific literature on EDIHs, agriculture and digital adoption</a:t>
            </a:r>
          </a:p>
        </p:txBody>
      </p:sp>
      <p:sp>
        <p:nvSpPr>
          <p:cNvPr id="6" name="Right Arrow 5"/>
          <p:cNvSpPr/>
          <p:nvPr/>
        </p:nvSpPr>
        <p:spPr>
          <a:xfrm>
            <a:off x="3035808" y="2871216"/>
            <a:ext cx="320040" cy="182880"/>
          </a:xfrm>
          <a:prstGeom prst="rightArrow">
            <a:avLst/>
          </a:prstGeom>
          <a:solidFill>
            <a:srgbClr val="A5A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3520440" y="2761488"/>
            <a:ext cx="438912" cy="438912"/>
          </a:xfrm>
          <a:prstGeom prst="ellipse">
            <a:avLst/>
          </a:prstGeom>
          <a:solidFill>
            <a:srgbClr val="437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300">
                <a:solidFill>
                  <a:srgbClr val="FFFFFF"/>
                </a:solidFill>
              </a:defRPr>
            </a:pPr>
            <a:r>
              <a:t>2</a:t>
            </a:r>
          </a:p>
        </p:txBody>
      </p:sp>
      <p:sp>
        <p:nvSpPr>
          <p:cNvPr id="8" name="TextBox 7"/>
          <p:cNvSpPr txBox="1"/>
          <p:nvPr/>
        </p:nvSpPr>
        <p:spPr>
          <a:xfrm>
            <a:off x="4069080" y="2688336"/>
            <a:ext cx="1920240" cy="786384"/>
          </a:xfrm>
          <a:prstGeom prst="rect">
            <a:avLst/>
          </a:prstGeom>
          <a:noFill/>
        </p:spPr>
        <p:txBody>
          <a:bodyPr wrap="square" lIns="27432" rIns="27432" tIns="18288" bIns="18288">
            <a:spAutoFit/>
          </a:bodyPr>
          <a:lstStyle/>
          <a:p>
            <a:pPr>
              <a:lnSpc>
                <a:spcPct val="105000"/>
              </a:lnSpc>
              <a:spcAft>
                <a:spcPts val="300"/>
              </a:spcAft>
              <a:defRPr sz="1150" b="1">
                <a:solidFill>
                  <a:srgbClr val="202D2B"/>
                </a:solidFill>
                <a:latin typeface="Calibri"/>
              </a:defRPr>
            </a:pPr>
            <a:r>
              <a:t>Document analysis</a:t>
            </a:r>
          </a:p>
          <a:p>
            <a:pPr>
              <a:lnSpc>
                <a:spcPct val="105000"/>
              </a:lnSpc>
              <a:spcAft>
                <a:spcPts val="300"/>
              </a:spcAft>
              <a:defRPr sz="1150" b="0">
                <a:solidFill>
                  <a:srgbClr val="202D2B"/>
                </a:solidFill>
                <a:latin typeface="Calibri"/>
              </a:defRPr>
            </a:pPr>
            <a:r>
              <a:t>EU, national and hub-level sources</a:t>
            </a:r>
          </a:p>
        </p:txBody>
      </p:sp>
      <p:sp>
        <p:nvSpPr>
          <p:cNvPr id="9" name="Right Arrow 8"/>
          <p:cNvSpPr/>
          <p:nvPr/>
        </p:nvSpPr>
        <p:spPr>
          <a:xfrm>
            <a:off x="5733288" y="2871216"/>
            <a:ext cx="320040" cy="182880"/>
          </a:xfrm>
          <a:prstGeom prst="rightArrow">
            <a:avLst/>
          </a:prstGeom>
          <a:solidFill>
            <a:srgbClr val="A5A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0" y="2761488"/>
            <a:ext cx="438912" cy="438912"/>
          </a:xfrm>
          <a:prstGeom prst="ellipse">
            <a:avLst/>
          </a:prstGeom>
          <a:solidFill>
            <a:srgbClr val="2E8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300">
                <a:solidFill>
                  <a:srgbClr val="FFFFFF"/>
                </a:solidFill>
              </a:defRPr>
            </a:pPr>
            <a:r>
              <a:t>3</a:t>
            </a:r>
          </a:p>
        </p:txBody>
      </p:sp>
      <p:sp>
        <p:nvSpPr>
          <p:cNvPr id="11" name="TextBox 10"/>
          <p:cNvSpPr txBox="1"/>
          <p:nvPr/>
        </p:nvSpPr>
        <p:spPr>
          <a:xfrm>
            <a:off x="6766560" y="2688336"/>
            <a:ext cx="1920240" cy="786384"/>
          </a:xfrm>
          <a:prstGeom prst="rect">
            <a:avLst/>
          </a:prstGeom>
          <a:noFill/>
        </p:spPr>
        <p:txBody>
          <a:bodyPr wrap="square" lIns="27432" rIns="27432" tIns="18288" bIns="18288">
            <a:spAutoFit/>
          </a:bodyPr>
          <a:lstStyle/>
          <a:p>
            <a:pPr>
              <a:lnSpc>
                <a:spcPct val="105000"/>
              </a:lnSpc>
              <a:spcAft>
                <a:spcPts val="300"/>
              </a:spcAft>
              <a:defRPr sz="1150" b="1">
                <a:solidFill>
                  <a:srgbClr val="202D2B"/>
                </a:solidFill>
                <a:latin typeface="Calibri"/>
              </a:defRPr>
            </a:pPr>
            <a:r>
              <a:t>Comparative interpretation</a:t>
            </a:r>
          </a:p>
          <a:p>
            <a:pPr>
              <a:lnSpc>
                <a:spcPct val="105000"/>
              </a:lnSpc>
              <a:spcAft>
                <a:spcPts val="300"/>
              </a:spcAft>
              <a:defRPr sz="1150" b="0">
                <a:solidFill>
                  <a:srgbClr val="202D2B"/>
                </a:solidFill>
                <a:latin typeface="Calibri"/>
              </a:defRPr>
            </a:pPr>
            <a:r>
              <a:t>country patterns and structural constraints</a:t>
            </a:r>
          </a:p>
        </p:txBody>
      </p:sp>
      <p:sp>
        <p:nvSpPr>
          <p:cNvPr id="12" name="Rounded Rectangle 11"/>
          <p:cNvSpPr/>
          <p:nvPr/>
        </p:nvSpPr>
        <p:spPr>
          <a:xfrm>
            <a:off x="5212080" y="1143000"/>
            <a:ext cx="3063240" cy="960120"/>
          </a:xfrm>
          <a:prstGeom prst="roundRect">
            <a:avLst/>
          </a:prstGeom>
          <a:solidFill>
            <a:srgbClr val="FAFCF9"/>
          </a:solidFill>
          <a:ln w="7620">
            <a:solidFill>
              <a:srgbClr val="D2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212080" y="1143000"/>
            <a:ext cx="73152" cy="960120"/>
          </a:xfrm>
          <a:prstGeom prst="rect">
            <a:avLst/>
          </a:prstGeom>
          <a:solidFill>
            <a:srgbClr val="6E4C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13248" y="1252728"/>
            <a:ext cx="2734056" cy="795528"/>
          </a:xfrm>
          <a:prstGeom prst="rect">
            <a:avLst/>
          </a:prstGeom>
          <a:noFill/>
        </p:spPr>
        <p:txBody>
          <a:bodyPr wrap="square" lIns="27432" rIns="27432" tIns="18288" bIns="18288">
            <a:spAutoFit/>
          </a:bodyPr>
          <a:lstStyle/>
          <a:p>
            <a:pPr>
              <a:lnSpc>
                <a:spcPct val="105000"/>
              </a:lnSpc>
              <a:spcAft>
                <a:spcPts val="300"/>
              </a:spcAft>
              <a:defRPr sz="1200" b="1">
                <a:solidFill>
                  <a:srgbClr val="202D2B"/>
                </a:solidFill>
                <a:latin typeface="Calibri"/>
              </a:defRPr>
            </a:pPr>
            <a:r>
              <a:t>Scope</a:t>
            </a:r>
          </a:p>
          <a:p>
            <a:pPr>
              <a:lnSpc>
                <a:spcPct val="105000"/>
              </a:lnSpc>
              <a:spcAft>
                <a:spcPts val="300"/>
              </a:spcAft>
              <a:defRPr sz="1200" b="0">
                <a:solidFill>
                  <a:srgbClr val="202D2B"/>
                </a:solidFill>
                <a:latin typeface="Calibri"/>
              </a:defRPr>
            </a:pPr>
            <a:r>
              <a:t>Bulgaria, Romania, Slovenia, Greece, Spain and Turkey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47472"/>
            <a:ext cx="7955279" cy="621792"/>
          </a:xfrm>
          <a:prstGeom prst="rect">
            <a:avLst/>
          </a:prstGeom>
          <a:noFill/>
        </p:spPr>
        <p:txBody>
          <a:bodyPr wrap="none">
            <a:spAutoFit/>
          </a:bodyPr>
          <a:lstStyle/>
          <a:p>
            <a:pPr algn="l">
              <a:defRPr b="1" sz="3000">
                <a:solidFill>
                  <a:srgbClr val="202D2B"/>
                </a:solidFill>
                <a:latin typeface="Calibri"/>
              </a:defRPr>
            </a:pPr>
            <a:r>
              <a:t>Analytical Framework</a:t>
            </a:r>
          </a:p>
        </p:txBody>
      </p:sp>
      <p:sp>
        <p:nvSpPr>
          <p:cNvPr id="3" name="TextBox 2"/>
          <p:cNvSpPr txBox="1"/>
          <p:nvPr/>
        </p:nvSpPr>
        <p:spPr>
          <a:xfrm>
            <a:off x="4937760" y="1298448"/>
            <a:ext cx="3337560" cy="1234440"/>
          </a:xfrm>
          <a:prstGeom prst="rect">
            <a:avLst/>
          </a:prstGeom>
          <a:noFill/>
        </p:spPr>
        <p:txBody>
          <a:bodyPr wrap="square" lIns="27432" rIns="27432" tIns="18288" bIns="18288">
            <a:spAutoFit/>
          </a:bodyPr>
          <a:lstStyle/>
          <a:p>
            <a:pPr>
              <a:lnSpc>
                <a:spcPct val="105000"/>
              </a:lnSpc>
              <a:spcAft>
                <a:spcPts val="500"/>
              </a:spcAft>
              <a:defRPr sz="1500" b="0">
                <a:solidFill>
                  <a:srgbClr val="202D2B"/>
                </a:solidFill>
                <a:latin typeface="Calibri"/>
              </a:defRPr>
            </a:pPr>
            <a:r>
              <a:t>Four criteria structure the comparison.</a:t>
            </a:r>
          </a:p>
          <a:p>
            <a:pPr>
              <a:lnSpc>
                <a:spcPct val="105000"/>
              </a:lnSpc>
              <a:spcAft>
                <a:spcPts val="500"/>
              </a:spcAft>
              <a:defRPr sz="1500" b="0">
                <a:solidFill>
                  <a:srgbClr val="202D2B"/>
                </a:solidFill>
                <a:latin typeface="Calibri"/>
              </a:defRPr>
            </a:pPr>
            <a:r>
              <a:t>Barriers are treated as contextual conditions that shape whether services become usable.</a:t>
            </a:r>
          </a:p>
        </p:txBody>
      </p:sp>
      <p:sp>
        <p:nvSpPr>
          <p:cNvPr id="4" name="Rounded Rectangle 3"/>
          <p:cNvSpPr/>
          <p:nvPr/>
        </p:nvSpPr>
        <p:spPr>
          <a:xfrm>
            <a:off x="749808" y="1600200"/>
            <a:ext cx="1847088" cy="1078992"/>
          </a:xfrm>
          <a:prstGeom prst="roundRect">
            <a:avLst/>
          </a:prstGeom>
          <a:solidFill>
            <a:srgbClr val="FAFCF9"/>
          </a:solidFill>
          <a:ln w="7620">
            <a:solidFill>
              <a:srgbClr val="D2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96112" y="1764792"/>
            <a:ext cx="310896" cy="310896"/>
          </a:xfrm>
          <a:prstGeom prst="ellipse">
            <a:avLst/>
          </a:prstGeom>
          <a:solidFill>
            <a:srgbClr val="437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16736" y="1709928"/>
            <a:ext cx="1161288" cy="411480"/>
          </a:xfrm>
          <a:prstGeom prst="rect">
            <a:avLst/>
          </a:prstGeom>
          <a:noFill/>
        </p:spPr>
        <p:txBody>
          <a:bodyPr wrap="square" lIns="27432" rIns="27432" tIns="18288" bIns="18288">
            <a:spAutoFit/>
          </a:bodyPr>
          <a:lstStyle/>
          <a:p>
            <a:pPr>
              <a:lnSpc>
                <a:spcPct val="105000"/>
              </a:lnSpc>
              <a:spcAft>
                <a:spcPts val="300"/>
              </a:spcAft>
              <a:defRPr sz="1200" b="1">
                <a:solidFill>
                  <a:srgbClr val="202D2B"/>
                </a:solidFill>
                <a:latin typeface="Calibri"/>
              </a:defRPr>
            </a:pPr>
            <a:r>
              <a:t>Economic viability</a:t>
            </a:r>
          </a:p>
        </p:txBody>
      </p:sp>
      <p:sp>
        <p:nvSpPr>
          <p:cNvPr id="7" name="TextBox 6"/>
          <p:cNvSpPr txBox="1"/>
          <p:nvPr/>
        </p:nvSpPr>
        <p:spPr>
          <a:xfrm>
            <a:off x="914400" y="2221992"/>
            <a:ext cx="1554480" cy="292608"/>
          </a:xfrm>
          <a:prstGeom prst="rect">
            <a:avLst/>
          </a:prstGeom>
          <a:noFill/>
        </p:spPr>
        <p:txBody>
          <a:bodyPr wrap="square" lIns="27432" rIns="27432" tIns="18288" bIns="18288">
            <a:spAutoFit/>
          </a:bodyPr>
          <a:lstStyle/>
          <a:p>
            <a:pPr>
              <a:lnSpc>
                <a:spcPct val="105000"/>
              </a:lnSpc>
              <a:spcAft>
                <a:spcPts val="300"/>
              </a:spcAft>
              <a:defRPr sz="950" b="0">
                <a:solidFill>
                  <a:srgbClr val="58635F"/>
                </a:solidFill>
                <a:latin typeface="Calibri"/>
              </a:defRPr>
            </a:pPr>
            <a:r>
              <a:t>ROI, cost and payback</a:t>
            </a:r>
          </a:p>
        </p:txBody>
      </p:sp>
      <p:sp>
        <p:nvSpPr>
          <p:cNvPr id="8" name="Rounded Rectangle 7"/>
          <p:cNvSpPr/>
          <p:nvPr/>
        </p:nvSpPr>
        <p:spPr>
          <a:xfrm>
            <a:off x="2852927" y="1600200"/>
            <a:ext cx="1847088" cy="1078992"/>
          </a:xfrm>
          <a:prstGeom prst="roundRect">
            <a:avLst/>
          </a:prstGeom>
          <a:solidFill>
            <a:srgbClr val="FAFCF9"/>
          </a:solidFill>
          <a:ln w="7620">
            <a:solidFill>
              <a:srgbClr val="D2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999232" y="1764792"/>
            <a:ext cx="310896" cy="310896"/>
          </a:xfrm>
          <a:prstGeom prst="ellipse">
            <a:avLst/>
          </a:prstGeom>
          <a:solidFill>
            <a:srgbClr val="4168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19856" y="1709928"/>
            <a:ext cx="1161288" cy="411480"/>
          </a:xfrm>
          <a:prstGeom prst="rect">
            <a:avLst/>
          </a:prstGeom>
          <a:noFill/>
        </p:spPr>
        <p:txBody>
          <a:bodyPr wrap="square" lIns="27432" rIns="27432" tIns="18288" bIns="18288">
            <a:spAutoFit/>
          </a:bodyPr>
          <a:lstStyle/>
          <a:p>
            <a:pPr>
              <a:lnSpc>
                <a:spcPct val="105000"/>
              </a:lnSpc>
              <a:spcAft>
                <a:spcPts val="300"/>
              </a:spcAft>
              <a:defRPr sz="1200" b="1">
                <a:solidFill>
                  <a:srgbClr val="202D2B"/>
                </a:solidFill>
                <a:latin typeface="Calibri"/>
              </a:defRPr>
            </a:pPr>
            <a:r>
              <a:t>Operational efficiency</a:t>
            </a:r>
          </a:p>
        </p:txBody>
      </p:sp>
      <p:sp>
        <p:nvSpPr>
          <p:cNvPr id="11" name="TextBox 10"/>
          <p:cNvSpPr txBox="1"/>
          <p:nvPr/>
        </p:nvSpPr>
        <p:spPr>
          <a:xfrm>
            <a:off x="3017520" y="2221992"/>
            <a:ext cx="1554480" cy="292608"/>
          </a:xfrm>
          <a:prstGeom prst="rect">
            <a:avLst/>
          </a:prstGeom>
          <a:noFill/>
        </p:spPr>
        <p:txBody>
          <a:bodyPr wrap="square" lIns="27432" rIns="27432" tIns="18288" bIns="18288">
            <a:spAutoFit/>
          </a:bodyPr>
          <a:lstStyle/>
          <a:p>
            <a:pPr>
              <a:lnSpc>
                <a:spcPct val="105000"/>
              </a:lnSpc>
              <a:spcAft>
                <a:spcPts val="300"/>
              </a:spcAft>
              <a:defRPr sz="950" b="0">
                <a:solidFill>
                  <a:srgbClr val="58635F"/>
                </a:solidFill>
                <a:latin typeface="Calibri"/>
              </a:defRPr>
            </a:pPr>
            <a:r>
              <a:t>resource and workflow gains</a:t>
            </a:r>
          </a:p>
        </p:txBody>
      </p:sp>
      <p:sp>
        <p:nvSpPr>
          <p:cNvPr id="12" name="Rounded Rectangle 11"/>
          <p:cNvSpPr/>
          <p:nvPr/>
        </p:nvSpPr>
        <p:spPr>
          <a:xfrm>
            <a:off x="749808" y="2935224"/>
            <a:ext cx="1847088" cy="1078992"/>
          </a:xfrm>
          <a:prstGeom prst="roundRect">
            <a:avLst/>
          </a:prstGeom>
          <a:solidFill>
            <a:srgbClr val="FAFCF9"/>
          </a:solidFill>
          <a:ln w="7620">
            <a:solidFill>
              <a:srgbClr val="D2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96112" y="3099816"/>
            <a:ext cx="310896" cy="310896"/>
          </a:xfrm>
          <a:prstGeom prst="ellipse">
            <a:avLst/>
          </a:prstGeom>
          <a:solidFill>
            <a:srgbClr val="2E8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16736" y="3044952"/>
            <a:ext cx="1161288" cy="411480"/>
          </a:xfrm>
          <a:prstGeom prst="rect">
            <a:avLst/>
          </a:prstGeom>
          <a:noFill/>
        </p:spPr>
        <p:txBody>
          <a:bodyPr wrap="square" lIns="27432" rIns="27432" tIns="18288" bIns="18288">
            <a:spAutoFit/>
          </a:bodyPr>
          <a:lstStyle/>
          <a:p>
            <a:pPr>
              <a:lnSpc>
                <a:spcPct val="105000"/>
              </a:lnSpc>
              <a:spcAft>
                <a:spcPts val="300"/>
              </a:spcAft>
              <a:defRPr sz="1200" b="1">
                <a:solidFill>
                  <a:srgbClr val="202D2B"/>
                </a:solidFill>
                <a:latin typeface="Calibri"/>
              </a:defRPr>
            </a:pPr>
            <a:r>
              <a:t>Sustainability outcomes</a:t>
            </a:r>
          </a:p>
        </p:txBody>
      </p:sp>
      <p:sp>
        <p:nvSpPr>
          <p:cNvPr id="15" name="TextBox 14"/>
          <p:cNvSpPr txBox="1"/>
          <p:nvPr/>
        </p:nvSpPr>
        <p:spPr>
          <a:xfrm>
            <a:off x="914400" y="3557016"/>
            <a:ext cx="1554480" cy="292608"/>
          </a:xfrm>
          <a:prstGeom prst="rect">
            <a:avLst/>
          </a:prstGeom>
          <a:noFill/>
        </p:spPr>
        <p:txBody>
          <a:bodyPr wrap="square" lIns="27432" rIns="27432" tIns="18288" bIns="18288">
            <a:spAutoFit/>
          </a:bodyPr>
          <a:lstStyle/>
          <a:p>
            <a:pPr>
              <a:lnSpc>
                <a:spcPct val="105000"/>
              </a:lnSpc>
              <a:spcAft>
                <a:spcPts val="300"/>
              </a:spcAft>
              <a:defRPr sz="950" b="0">
                <a:solidFill>
                  <a:srgbClr val="58635F"/>
                </a:solidFill>
                <a:latin typeface="Calibri"/>
              </a:defRPr>
            </a:pPr>
            <a:r>
              <a:t>inputs, monitoring, resilience</a:t>
            </a:r>
          </a:p>
        </p:txBody>
      </p:sp>
      <p:sp>
        <p:nvSpPr>
          <p:cNvPr id="16" name="Rounded Rectangle 15"/>
          <p:cNvSpPr/>
          <p:nvPr/>
        </p:nvSpPr>
        <p:spPr>
          <a:xfrm>
            <a:off x="2852927" y="2935224"/>
            <a:ext cx="1847088" cy="1078992"/>
          </a:xfrm>
          <a:prstGeom prst="roundRect">
            <a:avLst/>
          </a:prstGeom>
          <a:solidFill>
            <a:srgbClr val="FAFCF9"/>
          </a:solidFill>
          <a:ln w="7620">
            <a:solidFill>
              <a:srgbClr val="D2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999232" y="3099816"/>
            <a:ext cx="310896" cy="310896"/>
          </a:xfrm>
          <a:prstGeom prst="ellipse">
            <a:avLst/>
          </a:prstGeom>
          <a:solidFill>
            <a:srgbClr val="E08E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19856" y="3044952"/>
            <a:ext cx="1161288" cy="411480"/>
          </a:xfrm>
          <a:prstGeom prst="rect">
            <a:avLst/>
          </a:prstGeom>
          <a:noFill/>
        </p:spPr>
        <p:txBody>
          <a:bodyPr wrap="square" lIns="27432" rIns="27432" tIns="18288" bIns="18288">
            <a:spAutoFit/>
          </a:bodyPr>
          <a:lstStyle/>
          <a:p>
            <a:pPr>
              <a:lnSpc>
                <a:spcPct val="105000"/>
              </a:lnSpc>
              <a:spcAft>
                <a:spcPts val="300"/>
              </a:spcAft>
              <a:defRPr sz="1200" b="1">
                <a:solidFill>
                  <a:srgbClr val="202D2B"/>
                </a:solidFill>
                <a:latin typeface="Calibri"/>
              </a:defRPr>
            </a:pPr>
            <a:r>
              <a:t>Accessibility</a:t>
            </a:r>
          </a:p>
        </p:txBody>
      </p:sp>
      <p:sp>
        <p:nvSpPr>
          <p:cNvPr id="19" name="TextBox 18"/>
          <p:cNvSpPr txBox="1"/>
          <p:nvPr/>
        </p:nvSpPr>
        <p:spPr>
          <a:xfrm>
            <a:off x="3017520" y="3557016"/>
            <a:ext cx="1554480" cy="292608"/>
          </a:xfrm>
          <a:prstGeom prst="rect">
            <a:avLst/>
          </a:prstGeom>
          <a:noFill/>
        </p:spPr>
        <p:txBody>
          <a:bodyPr wrap="square" lIns="27432" rIns="27432" tIns="18288" bIns="18288">
            <a:spAutoFit/>
          </a:bodyPr>
          <a:lstStyle/>
          <a:p>
            <a:pPr>
              <a:lnSpc>
                <a:spcPct val="105000"/>
              </a:lnSpc>
              <a:spcAft>
                <a:spcPts val="300"/>
              </a:spcAft>
              <a:defRPr sz="950" b="0">
                <a:solidFill>
                  <a:srgbClr val="58635F"/>
                </a:solidFill>
                <a:latin typeface="Calibri"/>
              </a:defRPr>
            </a:pPr>
            <a:r>
              <a:t>reach for smaller actors</a:t>
            </a:r>
          </a:p>
        </p:txBody>
      </p:sp>
      <p:sp>
        <p:nvSpPr>
          <p:cNvPr id="20" name="Rounded Rectangle 19"/>
          <p:cNvSpPr/>
          <p:nvPr/>
        </p:nvSpPr>
        <p:spPr>
          <a:xfrm>
            <a:off x="4892040" y="3063240"/>
            <a:ext cx="3337560" cy="1234440"/>
          </a:xfrm>
          <a:prstGeom prst="roundRect">
            <a:avLst/>
          </a:prstGeom>
          <a:solidFill>
            <a:srgbClr val="FAFCF9"/>
          </a:solidFill>
          <a:ln w="7620">
            <a:solidFill>
              <a:srgbClr val="D2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892040" y="3063240"/>
            <a:ext cx="73152" cy="1234440"/>
          </a:xfrm>
          <a:prstGeom prst="rect">
            <a:avLst/>
          </a:prstGeom>
          <a:solidFill>
            <a:srgbClr val="6E4C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93207" y="3172968"/>
            <a:ext cx="3008376" cy="1069848"/>
          </a:xfrm>
          <a:prstGeom prst="rect">
            <a:avLst/>
          </a:prstGeom>
          <a:noFill/>
        </p:spPr>
        <p:txBody>
          <a:bodyPr wrap="square" lIns="27432" rIns="27432" tIns="18288" bIns="18288">
            <a:spAutoFit/>
          </a:bodyPr>
          <a:lstStyle/>
          <a:p>
            <a:pPr>
              <a:lnSpc>
                <a:spcPct val="105000"/>
              </a:lnSpc>
              <a:spcAft>
                <a:spcPts val="300"/>
              </a:spcAft>
              <a:defRPr sz="1200" b="1">
                <a:solidFill>
                  <a:srgbClr val="202D2B"/>
                </a:solidFill>
                <a:latin typeface="Calibri"/>
              </a:defRPr>
            </a:pPr>
            <a:r>
              <a:t>Contextual barriers</a:t>
            </a:r>
          </a:p>
          <a:p>
            <a:pPr>
              <a:lnSpc>
                <a:spcPct val="105000"/>
              </a:lnSpc>
              <a:spcAft>
                <a:spcPts val="300"/>
              </a:spcAft>
              <a:defRPr sz="1200" b="0">
                <a:solidFill>
                  <a:srgbClr val="202D2B"/>
                </a:solidFill>
                <a:latin typeface="Calibri"/>
              </a:defRPr>
            </a:pPr>
            <a:r>
              <a:t>digital literacy, broadband connectivity, finance, fragmented holdings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47472"/>
            <a:ext cx="7955279" cy="621792"/>
          </a:xfrm>
          <a:prstGeom prst="rect">
            <a:avLst/>
          </a:prstGeom>
          <a:noFill/>
        </p:spPr>
        <p:txBody>
          <a:bodyPr wrap="none">
            <a:spAutoFit/>
          </a:bodyPr>
          <a:lstStyle/>
          <a:p>
            <a:pPr algn="l">
              <a:defRPr b="1" sz="3000">
                <a:solidFill>
                  <a:srgbClr val="202D2B"/>
                </a:solidFill>
                <a:latin typeface="Calibri"/>
              </a:defRPr>
            </a:pPr>
            <a:r>
              <a:t>Network Reach vs. Agricultural Uptake</a:t>
            </a:r>
          </a:p>
          <a:p>
            <a:pPr>
              <a:spcBef>
                <a:spcPts val="300"/>
              </a:spcBef>
              <a:defRPr sz="1200">
                <a:solidFill>
                  <a:srgbClr val="58635F"/>
                </a:solidFill>
                <a:latin typeface="Calibri"/>
              </a:defRPr>
            </a:pPr>
            <a:r>
              <a:t>Percentages and counts reported in the article</a:t>
            </a:r>
          </a:p>
        </p:txBody>
      </p:sp>
      <p:sp>
        <p:nvSpPr>
          <p:cNvPr id="3" name="TextBox 2"/>
          <p:cNvSpPr txBox="1"/>
          <p:nvPr/>
        </p:nvSpPr>
        <p:spPr>
          <a:xfrm>
            <a:off x="713232" y="1078992"/>
            <a:ext cx="7818120" cy="658368"/>
          </a:xfrm>
          <a:prstGeom prst="rect">
            <a:avLst/>
          </a:prstGeom>
          <a:noFill/>
        </p:spPr>
        <p:txBody>
          <a:bodyPr wrap="square" lIns="27432" rIns="27432" tIns="18288" bIns="18288">
            <a:spAutoFit/>
          </a:bodyPr>
          <a:lstStyle/>
          <a:p>
            <a:pPr>
              <a:lnSpc>
                <a:spcPct val="105000"/>
              </a:lnSpc>
              <a:spcAft>
                <a:spcPts val="500"/>
              </a:spcAft>
              <a:defRPr sz="1550" b="0">
                <a:solidFill>
                  <a:srgbClr val="202D2B"/>
                </a:solidFill>
                <a:latin typeface="Calibri"/>
              </a:defRPr>
            </a:pPr>
            <a:r>
              <a:t>The EDIH network is broad, but agriculture appears under-represented among reported beneficiaries.</a:t>
            </a:r>
          </a:p>
        </p:txBody>
      </p:sp>
      <p:sp>
        <p:nvSpPr>
          <p:cNvPr id="4" name="TextBox 3"/>
          <p:cNvSpPr txBox="1"/>
          <p:nvPr/>
        </p:nvSpPr>
        <p:spPr>
          <a:xfrm>
            <a:off x="868680" y="1938528"/>
            <a:ext cx="2057400" cy="256032"/>
          </a:xfrm>
          <a:prstGeom prst="rect">
            <a:avLst/>
          </a:prstGeom>
          <a:noFill/>
        </p:spPr>
        <p:txBody>
          <a:bodyPr wrap="square" lIns="27432" rIns="27432" tIns="18288" bIns="18288">
            <a:spAutoFit/>
          </a:bodyPr>
          <a:lstStyle/>
          <a:p>
            <a:pPr>
              <a:lnSpc>
                <a:spcPct val="105000"/>
              </a:lnSpc>
              <a:spcAft>
                <a:spcPts val="300"/>
              </a:spcAft>
              <a:defRPr sz="1050" b="0">
                <a:solidFill>
                  <a:srgbClr val="202D2B"/>
                </a:solidFill>
                <a:latin typeface="Calibri"/>
              </a:defRPr>
            </a:pPr>
            <a:r>
              <a:t>Manufacturing beneficiaries</a:t>
            </a:r>
          </a:p>
        </p:txBody>
      </p:sp>
      <p:sp>
        <p:nvSpPr>
          <p:cNvPr id="5" name="Rectangle 4"/>
          <p:cNvSpPr/>
          <p:nvPr/>
        </p:nvSpPr>
        <p:spPr>
          <a:xfrm>
            <a:off x="3108960" y="1993391"/>
            <a:ext cx="4389120" cy="164592"/>
          </a:xfrm>
          <a:prstGeom prst="rect">
            <a:avLst/>
          </a:prstGeom>
          <a:solidFill>
            <a:srgbClr val="E6E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108960" y="1993391"/>
            <a:ext cx="3072384" cy="164592"/>
          </a:xfrm>
          <a:prstGeom prst="rect">
            <a:avLst/>
          </a:prstGeom>
          <a:solidFill>
            <a:srgbClr val="4168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16952" y="1929384"/>
            <a:ext cx="594360" cy="274320"/>
          </a:xfrm>
          <a:prstGeom prst="rect">
            <a:avLst/>
          </a:prstGeom>
          <a:noFill/>
        </p:spPr>
        <p:txBody>
          <a:bodyPr wrap="square" lIns="27432" rIns="27432" tIns="18288" bIns="18288">
            <a:spAutoFit/>
          </a:bodyPr>
          <a:lstStyle/>
          <a:p>
            <a:pPr>
              <a:lnSpc>
                <a:spcPct val="105000"/>
              </a:lnSpc>
              <a:spcAft>
                <a:spcPts val="300"/>
              </a:spcAft>
              <a:defRPr sz="1100" b="0">
                <a:solidFill>
                  <a:srgbClr val="416890"/>
                </a:solidFill>
                <a:latin typeface="Calibri"/>
              </a:defRPr>
            </a:pPr>
            <a:r>
              <a:t>28%</a:t>
            </a:r>
          </a:p>
        </p:txBody>
      </p:sp>
      <p:sp>
        <p:nvSpPr>
          <p:cNvPr id="8" name="TextBox 7"/>
          <p:cNvSpPr txBox="1"/>
          <p:nvPr/>
        </p:nvSpPr>
        <p:spPr>
          <a:xfrm>
            <a:off x="868680" y="2514600"/>
            <a:ext cx="2057400" cy="256032"/>
          </a:xfrm>
          <a:prstGeom prst="rect">
            <a:avLst/>
          </a:prstGeom>
          <a:noFill/>
        </p:spPr>
        <p:txBody>
          <a:bodyPr wrap="square" lIns="27432" rIns="27432" tIns="18288" bIns="18288">
            <a:spAutoFit/>
          </a:bodyPr>
          <a:lstStyle/>
          <a:p>
            <a:pPr>
              <a:lnSpc>
                <a:spcPct val="105000"/>
              </a:lnSpc>
              <a:spcAft>
                <a:spcPts val="300"/>
              </a:spcAft>
              <a:defRPr sz="1050" b="0">
                <a:solidFill>
                  <a:srgbClr val="202D2B"/>
                </a:solidFill>
                <a:latin typeface="Calibri"/>
              </a:defRPr>
            </a:pPr>
            <a:r>
              <a:t>Agricultural users</a:t>
            </a:r>
          </a:p>
        </p:txBody>
      </p:sp>
      <p:sp>
        <p:nvSpPr>
          <p:cNvPr id="9" name="Rectangle 8"/>
          <p:cNvSpPr/>
          <p:nvPr/>
        </p:nvSpPr>
        <p:spPr>
          <a:xfrm>
            <a:off x="3108960" y="2569463"/>
            <a:ext cx="4389120" cy="164592"/>
          </a:xfrm>
          <a:prstGeom prst="rect">
            <a:avLst/>
          </a:prstGeom>
          <a:solidFill>
            <a:srgbClr val="E6E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108960" y="2569463"/>
            <a:ext cx="186537" cy="164592"/>
          </a:xfrm>
          <a:prstGeom prst="rect">
            <a:avLst/>
          </a:prstGeom>
          <a:solidFill>
            <a:srgbClr val="437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16952" y="2505456"/>
            <a:ext cx="594360" cy="274320"/>
          </a:xfrm>
          <a:prstGeom prst="rect">
            <a:avLst/>
          </a:prstGeom>
          <a:noFill/>
        </p:spPr>
        <p:txBody>
          <a:bodyPr wrap="square" lIns="27432" rIns="27432" tIns="18288" bIns="18288">
            <a:spAutoFit/>
          </a:bodyPr>
          <a:lstStyle/>
          <a:p>
            <a:pPr>
              <a:lnSpc>
                <a:spcPct val="105000"/>
              </a:lnSpc>
              <a:spcAft>
                <a:spcPts val="300"/>
              </a:spcAft>
              <a:defRPr sz="1100" b="0">
                <a:solidFill>
                  <a:srgbClr val="437843"/>
                </a:solidFill>
                <a:latin typeface="Calibri"/>
              </a:defRPr>
            </a:pPr>
            <a:r>
              <a:t>1.7%</a:t>
            </a:r>
          </a:p>
        </p:txBody>
      </p:sp>
      <p:sp>
        <p:nvSpPr>
          <p:cNvPr id="12" name="TextBox 11"/>
          <p:cNvSpPr txBox="1"/>
          <p:nvPr/>
        </p:nvSpPr>
        <p:spPr>
          <a:xfrm>
            <a:off x="868680" y="3090672"/>
            <a:ext cx="2057400" cy="256032"/>
          </a:xfrm>
          <a:prstGeom prst="rect">
            <a:avLst/>
          </a:prstGeom>
          <a:noFill/>
        </p:spPr>
        <p:txBody>
          <a:bodyPr wrap="square" lIns="27432" rIns="27432" tIns="18288" bIns="18288">
            <a:spAutoFit/>
          </a:bodyPr>
          <a:lstStyle/>
          <a:p>
            <a:pPr>
              <a:lnSpc>
                <a:spcPct val="105000"/>
              </a:lnSpc>
              <a:spcAft>
                <a:spcPts val="300"/>
              </a:spcAft>
              <a:defRPr sz="1050" b="0">
                <a:solidFill>
                  <a:srgbClr val="202D2B"/>
                </a:solidFill>
                <a:latin typeface="Calibri"/>
              </a:defRPr>
            </a:pPr>
            <a:r>
              <a:t>Agri-food-related hubs</a:t>
            </a:r>
          </a:p>
        </p:txBody>
      </p:sp>
      <p:sp>
        <p:nvSpPr>
          <p:cNvPr id="13" name="Rectangle 12"/>
          <p:cNvSpPr/>
          <p:nvPr/>
        </p:nvSpPr>
        <p:spPr>
          <a:xfrm>
            <a:off x="3108960" y="3145536"/>
            <a:ext cx="4389120" cy="164592"/>
          </a:xfrm>
          <a:prstGeom prst="rect">
            <a:avLst/>
          </a:prstGeom>
          <a:solidFill>
            <a:srgbClr val="E6E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108960" y="3145536"/>
            <a:ext cx="3950207" cy="164592"/>
          </a:xfrm>
          <a:prstGeom prst="rect">
            <a:avLst/>
          </a:prstGeom>
          <a:solidFill>
            <a:srgbClr val="2E8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16952" y="3081528"/>
            <a:ext cx="594360" cy="274320"/>
          </a:xfrm>
          <a:prstGeom prst="rect">
            <a:avLst/>
          </a:prstGeom>
          <a:noFill/>
        </p:spPr>
        <p:txBody>
          <a:bodyPr wrap="square" lIns="27432" rIns="27432" tIns="18288" bIns="18288">
            <a:spAutoFit/>
          </a:bodyPr>
          <a:lstStyle/>
          <a:p>
            <a:pPr>
              <a:lnSpc>
                <a:spcPct val="105000"/>
              </a:lnSpc>
              <a:spcAft>
                <a:spcPts val="300"/>
              </a:spcAft>
              <a:defRPr sz="1100" b="0">
                <a:solidFill>
                  <a:srgbClr val="2E827E"/>
                </a:solidFill>
                <a:latin typeface="Calibri"/>
              </a:defRPr>
            </a:pPr>
            <a:r>
              <a:t>36%</a:t>
            </a:r>
          </a:p>
        </p:txBody>
      </p:sp>
      <p:sp>
        <p:nvSpPr>
          <p:cNvPr id="16" name="TextBox 15"/>
          <p:cNvSpPr txBox="1"/>
          <p:nvPr/>
        </p:nvSpPr>
        <p:spPr>
          <a:xfrm>
            <a:off x="868680" y="3666744"/>
            <a:ext cx="2057400" cy="256032"/>
          </a:xfrm>
          <a:prstGeom prst="rect">
            <a:avLst/>
          </a:prstGeom>
          <a:noFill/>
        </p:spPr>
        <p:txBody>
          <a:bodyPr wrap="square" lIns="27432" rIns="27432" tIns="18288" bIns="18288">
            <a:spAutoFit/>
          </a:bodyPr>
          <a:lstStyle/>
          <a:p>
            <a:pPr>
              <a:lnSpc>
                <a:spcPct val="105000"/>
              </a:lnSpc>
              <a:spcAft>
                <a:spcPts val="300"/>
              </a:spcAft>
              <a:defRPr sz="1050" b="0">
                <a:solidFill>
                  <a:srgbClr val="202D2B"/>
                </a:solidFill>
                <a:latin typeface="Calibri"/>
              </a:defRPr>
            </a:pPr>
            <a:r>
              <a:t>Exclusive agricultural mandate</a:t>
            </a:r>
          </a:p>
        </p:txBody>
      </p:sp>
      <p:sp>
        <p:nvSpPr>
          <p:cNvPr id="17" name="Rectangle 16"/>
          <p:cNvSpPr/>
          <p:nvPr/>
        </p:nvSpPr>
        <p:spPr>
          <a:xfrm>
            <a:off x="3108960" y="3721608"/>
            <a:ext cx="4389120" cy="164592"/>
          </a:xfrm>
          <a:prstGeom prst="rect">
            <a:avLst/>
          </a:prstGeom>
          <a:solidFill>
            <a:srgbClr val="E6E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108960" y="3721608"/>
            <a:ext cx="548640" cy="164592"/>
          </a:xfrm>
          <a:prstGeom prst="rect">
            <a:avLst/>
          </a:prstGeom>
          <a:solidFill>
            <a:srgbClr val="E08E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16952" y="3657600"/>
            <a:ext cx="594360" cy="274320"/>
          </a:xfrm>
          <a:prstGeom prst="rect">
            <a:avLst/>
          </a:prstGeom>
          <a:noFill/>
        </p:spPr>
        <p:txBody>
          <a:bodyPr wrap="square" lIns="27432" rIns="27432" tIns="18288" bIns="18288">
            <a:spAutoFit/>
          </a:bodyPr>
          <a:lstStyle/>
          <a:p>
            <a:pPr>
              <a:lnSpc>
                <a:spcPct val="105000"/>
              </a:lnSpc>
              <a:spcAft>
                <a:spcPts val="300"/>
              </a:spcAft>
              <a:defRPr sz="1100" b="0">
                <a:solidFill>
                  <a:srgbClr val="E08E41"/>
                </a:solidFill>
                <a:latin typeface="Calibri"/>
              </a:defRPr>
            </a:pPr>
            <a:r>
              <a:t>5%</a:t>
            </a:r>
          </a:p>
        </p:txBody>
      </p:sp>
      <p:sp>
        <p:nvSpPr>
          <p:cNvPr id="20" name="Rounded Rectangle 19"/>
          <p:cNvSpPr/>
          <p:nvPr/>
        </p:nvSpPr>
        <p:spPr>
          <a:xfrm>
            <a:off x="896112" y="4608576"/>
            <a:ext cx="1417320" cy="640080"/>
          </a:xfrm>
          <a:prstGeom prst="roundRect">
            <a:avLst/>
          </a:prstGeom>
          <a:solidFill>
            <a:srgbClr val="FAFCF9"/>
          </a:solidFill>
          <a:ln w="6350">
            <a:solidFill>
              <a:srgbClr val="D2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2400">
                <a:solidFill>
                  <a:srgbClr val="416890"/>
                </a:solidFill>
                <a:latin typeface="Calibri"/>
              </a:defRPr>
            </a:pPr>
            <a:r>
              <a:t>254</a:t>
            </a:r>
          </a:p>
          <a:p>
            <a:pPr algn="ctr">
              <a:defRPr sz="950">
                <a:solidFill>
                  <a:srgbClr val="58635F"/>
                </a:solidFill>
                <a:latin typeface="Calibri"/>
              </a:defRPr>
            </a:pPr>
            <a:r>
              <a:t>EDIHs by May 2025</a:t>
            </a:r>
          </a:p>
        </p:txBody>
      </p:sp>
      <p:sp>
        <p:nvSpPr>
          <p:cNvPr id="21" name="Rounded Rectangle 20"/>
          <p:cNvSpPr/>
          <p:nvPr/>
        </p:nvSpPr>
        <p:spPr>
          <a:xfrm>
            <a:off x="2761488" y="4608576"/>
            <a:ext cx="1417320" cy="640080"/>
          </a:xfrm>
          <a:prstGeom prst="roundRect">
            <a:avLst/>
          </a:prstGeom>
          <a:solidFill>
            <a:srgbClr val="FAFCF9"/>
          </a:solidFill>
          <a:ln w="6350">
            <a:solidFill>
              <a:srgbClr val="D2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2400">
                <a:solidFill>
                  <a:srgbClr val="2E827E"/>
                </a:solidFill>
                <a:latin typeface="Calibri"/>
              </a:defRPr>
            </a:pPr>
            <a:r>
              <a:t>93</a:t>
            </a:r>
          </a:p>
          <a:p>
            <a:pPr algn="ctr">
              <a:defRPr sz="950">
                <a:solidFill>
                  <a:srgbClr val="58635F"/>
                </a:solidFill>
                <a:latin typeface="Calibri"/>
              </a:defRPr>
            </a:pPr>
            <a:r>
              <a:t>agri-food support</a:t>
            </a:r>
          </a:p>
        </p:txBody>
      </p:sp>
      <p:sp>
        <p:nvSpPr>
          <p:cNvPr id="22" name="Rounded Rectangle 21"/>
          <p:cNvSpPr/>
          <p:nvPr/>
        </p:nvSpPr>
        <p:spPr>
          <a:xfrm>
            <a:off x="4626864" y="4608576"/>
            <a:ext cx="1417320" cy="640080"/>
          </a:xfrm>
          <a:prstGeom prst="roundRect">
            <a:avLst/>
          </a:prstGeom>
          <a:solidFill>
            <a:srgbClr val="FAFCF9"/>
          </a:solidFill>
          <a:ln w="6350">
            <a:solidFill>
              <a:srgbClr val="D2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2400">
                <a:solidFill>
                  <a:srgbClr val="E08E41"/>
                </a:solidFill>
                <a:latin typeface="Calibri"/>
              </a:defRPr>
            </a:pPr>
            <a:r>
              <a:t>12</a:t>
            </a:r>
          </a:p>
          <a:p>
            <a:pPr algn="ctr">
              <a:defRPr sz="950">
                <a:solidFill>
                  <a:srgbClr val="58635F"/>
                </a:solidFill>
                <a:latin typeface="Calibri"/>
              </a:defRPr>
            </a:pPr>
            <a:r>
              <a:t>exclusive mandate</a:t>
            </a:r>
          </a:p>
        </p:txBody>
      </p:sp>
      <p:sp>
        <p:nvSpPr>
          <p:cNvPr id="23" name="Rounded Rectangle 22"/>
          <p:cNvSpPr/>
          <p:nvPr/>
        </p:nvSpPr>
        <p:spPr>
          <a:xfrm>
            <a:off x="6492240" y="4608576"/>
            <a:ext cx="1417320" cy="640080"/>
          </a:xfrm>
          <a:prstGeom prst="roundRect">
            <a:avLst/>
          </a:prstGeom>
          <a:solidFill>
            <a:srgbClr val="FAFCF9"/>
          </a:solidFill>
          <a:ln w="6350">
            <a:solidFill>
              <a:srgbClr val="D2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2400">
                <a:solidFill>
                  <a:srgbClr val="6E4C93"/>
                </a:solidFill>
                <a:latin typeface="Calibri"/>
              </a:defRPr>
            </a:pPr>
            <a:r>
              <a:t>&gt;18k</a:t>
            </a:r>
          </a:p>
          <a:p>
            <a:pPr algn="ctr">
              <a:defRPr sz="950">
                <a:solidFill>
                  <a:srgbClr val="58635F"/>
                </a:solidFill>
                <a:latin typeface="Calibri"/>
              </a:defRPr>
            </a:pPr>
            <a:r>
              <a:t>service interactions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47472"/>
            <a:ext cx="7955279" cy="621792"/>
          </a:xfrm>
          <a:prstGeom prst="rect">
            <a:avLst/>
          </a:prstGeom>
          <a:noFill/>
        </p:spPr>
        <p:txBody>
          <a:bodyPr wrap="none">
            <a:spAutoFit/>
          </a:bodyPr>
          <a:lstStyle/>
          <a:p>
            <a:pPr algn="l">
              <a:defRPr b="1" sz="3000">
                <a:solidFill>
                  <a:srgbClr val="202D2B"/>
                </a:solidFill>
                <a:latin typeface="Calibri"/>
              </a:defRPr>
            </a:pPr>
            <a:r>
              <a:t>How EDIHs Can Add Value</a:t>
            </a:r>
          </a:p>
        </p:txBody>
      </p:sp>
      <p:sp>
        <p:nvSpPr>
          <p:cNvPr id="3" name="TextBox 2"/>
          <p:cNvSpPr txBox="1"/>
          <p:nvPr/>
        </p:nvSpPr>
        <p:spPr>
          <a:xfrm>
            <a:off x="713232" y="1078992"/>
            <a:ext cx="7726679" cy="594360"/>
          </a:xfrm>
          <a:prstGeom prst="rect">
            <a:avLst/>
          </a:prstGeom>
          <a:noFill/>
        </p:spPr>
        <p:txBody>
          <a:bodyPr wrap="square" lIns="27432" rIns="27432" tIns="18288" bIns="18288">
            <a:spAutoFit/>
          </a:bodyPr>
          <a:lstStyle/>
          <a:p>
            <a:pPr>
              <a:lnSpc>
                <a:spcPct val="105000"/>
              </a:lnSpc>
              <a:spcAft>
                <a:spcPts val="500"/>
              </a:spcAft>
              <a:defRPr sz="1520" b="0">
                <a:solidFill>
                  <a:srgbClr val="202D2B"/>
                </a:solidFill>
                <a:latin typeface="Calibri"/>
              </a:defRPr>
            </a:pPr>
            <a:r>
              <a:t>The strongest value proposition is not technology promotion alone, but reducing risk and translating digital tools into farm-level practice.</a:t>
            </a:r>
          </a:p>
        </p:txBody>
      </p:sp>
      <p:sp>
        <p:nvSpPr>
          <p:cNvPr id="4" name="Rounded Rectangle 3"/>
          <p:cNvSpPr/>
          <p:nvPr/>
        </p:nvSpPr>
        <p:spPr>
          <a:xfrm>
            <a:off x="658368" y="2377440"/>
            <a:ext cx="1783080" cy="960120"/>
          </a:xfrm>
          <a:prstGeom prst="roundRect">
            <a:avLst/>
          </a:prstGeom>
          <a:solidFill>
            <a:srgbClr val="FAFCF9"/>
          </a:solidFill>
          <a:ln w="7620">
            <a:solidFill>
              <a:srgbClr val="D2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2377440"/>
            <a:ext cx="73152" cy="960120"/>
          </a:xfrm>
          <a:prstGeom prst="rect">
            <a:avLst/>
          </a:prstGeom>
          <a:solidFill>
            <a:srgbClr val="4168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2487168"/>
            <a:ext cx="1453895" cy="795528"/>
          </a:xfrm>
          <a:prstGeom prst="rect">
            <a:avLst/>
          </a:prstGeom>
          <a:noFill/>
        </p:spPr>
        <p:txBody>
          <a:bodyPr wrap="square" lIns="27432" rIns="27432" tIns="18288" bIns="18288">
            <a:spAutoFit/>
          </a:bodyPr>
          <a:lstStyle/>
          <a:p>
            <a:pPr>
              <a:lnSpc>
                <a:spcPct val="105000"/>
              </a:lnSpc>
              <a:spcAft>
                <a:spcPts val="300"/>
              </a:spcAft>
              <a:defRPr sz="1200" b="1">
                <a:solidFill>
                  <a:srgbClr val="202D2B"/>
                </a:solidFill>
                <a:latin typeface="Calibri"/>
              </a:defRPr>
            </a:pPr>
            <a:r>
              <a:t>Uncertainty</a:t>
            </a:r>
          </a:p>
          <a:p>
            <a:pPr>
              <a:lnSpc>
                <a:spcPct val="105000"/>
              </a:lnSpc>
              <a:spcAft>
                <a:spcPts val="300"/>
              </a:spcAft>
              <a:defRPr sz="1200" b="0">
                <a:solidFill>
                  <a:srgbClr val="202D2B"/>
                </a:solidFill>
                <a:latin typeface="Calibri"/>
              </a:defRPr>
            </a:pPr>
            <a:r>
              <a:t>context-specific returns</a:t>
            </a:r>
          </a:p>
        </p:txBody>
      </p:sp>
      <p:sp>
        <p:nvSpPr>
          <p:cNvPr id="7" name="Right Arrow 6"/>
          <p:cNvSpPr/>
          <p:nvPr/>
        </p:nvSpPr>
        <p:spPr>
          <a:xfrm>
            <a:off x="2468880" y="2724912"/>
            <a:ext cx="310896" cy="201168"/>
          </a:xfrm>
          <a:prstGeom prst="rightArrow">
            <a:avLst/>
          </a:prstGeom>
          <a:solidFill>
            <a:srgbClr val="A5A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734056" y="2377440"/>
            <a:ext cx="1783080" cy="960120"/>
          </a:xfrm>
          <a:prstGeom prst="roundRect">
            <a:avLst/>
          </a:prstGeom>
          <a:solidFill>
            <a:srgbClr val="FAFCF9"/>
          </a:solidFill>
          <a:ln w="7620">
            <a:solidFill>
              <a:srgbClr val="D2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34056" y="2377440"/>
            <a:ext cx="73152" cy="960120"/>
          </a:xfrm>
          <a:prstGeom prst="rect">
            <a:avLst/>
          </a:prstGeom>
          <a:solidFill>
            <a:srgbClr val="437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35224" y="2487168"/>
            <a:ext cx="1453895" cy="795528"/>
          </a:xfrm>
          <a:prstGeom prst="rect">
            <a:avLst/>
          </a:prstGeom>
          <a:noFill/>
        </p:spPr>
        <p:txBody>
          <a:bodyPr wrap="square" lIns="27432" rIns="27432" tIns="18288" bIns="18288">
            <a:spAutoFit/>
          </a:bodyPr>
          <a:lstStyle/>
          <a:p>
            <a:pPr>
              <a:lnSpc>
                <a:spcPct val="105000"/>
              </a:lnSpc>
              <a:spcAft>
                <a:spcPts val="300"/>
              </a:spcAft>
              <a:defRPr sz="1200" b="1">
                <a:solidFill>
                  <a:srgbClr val="202D2B"/>
                </a:solidFill>
                <a:latin typeface="Calibri"/>
              </a:defRPr>
            </a:pPr>
            <a:r>
              <a:t>Test before invest</a:t>
            </a:r>
          </a:p>
          <a:p>
            <a:pPr>
              <a:lnSpc>
                <a:spcPct val="105000"/>
              </a:lnSpc>
              <a:spcAft>
                <a:spcPts val="300"/>
              </a:spcAft>
              <a:defRPr sz="1200" b="0">
                <a:solidFill>
                  <a:srgbClr val="202D2B"/>
                </a:solidFill>
                <a:latin typeface="Calibri"/>
              </a:defRPr>
            </a:pPr>
            <a:r>
              <a:t>realistic farm conditions</a:t>
            </a:r>
          </a:p>
        </p:txBody>
      </p:sp>
      <p:sp>
        <p:nvSpPr>
          <p:cNvPr id="11" name="Right Arrow 10"/>
          <p:cNvSpPr/>
          <p:nvPr/>
        </p:nvSpPr>
        <p:spPr>
          <a:xfrm>
            <a:off x="4544568" y="2724912"/>
            <a:ext cx="310896" cy="201168"/>
          </a:xfrm>
          <a:prstGeom prst="rightArrow">
            <a:avLst/>
          </a:prstGeom>
          <a:solidFill>
            <a:srgbClr val="A5A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809744" y="2377440"/>
            <a:ext cx="1783080" cy="960120"/>
          </a:xfrm>
          <a:prstGeom prst="roundRect">
            <a:avLst/>
          </a:prstGeom>
          <a:solidFill>
            <a:srgbClr val="FAFCF9"/>
          </a:solidFill>
          <a:ln w="7620">
            <a:solidFill>
              <a:srgbClr val="D2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809744" y="2377440"/>
            <a:ext cx="73152" cy="960120"/>
          </a:xfrm>
          <a:prstGeom prst="rect">
            <a:avLst/>
          </a:prstGeom>
          <a:solidFill>
            <a:srgbClr val="2E8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10912" y="2487168"/>
            <a:ext cx="1453895" cy="795528"/>
          </a:xfrm>
          <a:prstGeom prst="rect">
            <a:avLst/>
          </a:prstGeom>
          <a:noFill/>
        </p:spPr>
        <p:txBody>
          <a:bodyPr wrap="square" lIns="27432" rIns="27432" tIns="18288" bIns="18288">
            <a:spAutoFit/>
          </a:bodyPr>
          <a:lstStyle/>
          <a:p>
            <a:pPr>
              <a:lnSpc>
                <a:spcPct val="105000"/>
              </a:lnSpc>
              <a:spcAft>
                <a:spcPts val="300"/>
              </a:spcAft>
              <a:defRPr sz="1200" b="1">
                <a:solidFill>
                  <a:srgbClr val="202D2B"/>
                </a:solidFill>
                <a:latin typeface="Calibri"/>
              </a:defRPr>
            </a:pPr>
            <a:r>
              <a:t>Training</a:t>
            </a:r>
          </a:p>
          <a:p>
            <a:pPr>
              <a:lnSpc>
                <a:spcPct val="105000"/>
              </a:lnSpc>
              <a:spcAft>
                <a:spcPts val="300"/>
              </a:spcAft>
              <a:defRPr sz="1200" b="0">
                <a:solidFill>
                  <a:srgbClr val="202D2B"/>
                </a:solidFill>
                <a:latin typeface="Calibri"/>
              </a:defRPr>
            </a:pPr>
            <a:r>
              <a:t>skills and routines</a:t>
            </a:r>
          </a:p>
        </p:txBody>
      </p:sp>
      <p:sp>
        <p:nvSpPr>
          <p:cNvPr id="15" name="Right Arrow 14"/>
          <p:cNvSpPr/>
          <p:nvPr/>
        </p:nvSpPr>
        <p:spPr>
          <a:xfrm>
            <a:off x="6620256" y="2724912"/>
            <a:ext cx="310896" cy="201168"/>
          </a:xfrm>
          <a:prstGeom prst="rightArrow">
            <a:avLst/>
          </a:prstGeom>
          <a:solidFill>
            <a:srgbClr val="A5A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885432" y="2377440"/>
            <a:ext cx="1783080" cy="960120"/>
          </a:xfrm>
          <a:prstGeom prst="roundRect">
            <a:avLst/>
          </a:prstGeom>
          <a:solidFill>
            <a:srgbClr val="FAFCF9"/>
          </a:solidFill>
          <a:ln w="7620">
            <a:solidFill>
              <a:srgbClr val="D2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885432" y="2377440"/>
            <a:ext cx="73152" cy="960120"/>
          </a:xfrm>
          <a:prstGeom prst="rect">
            <a:avLst/>
          </a:prstGeom>
          <a:solidFill>
            <a:srgbClr val="E08E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86600" y="2487168"/>
            <a:ext cx="1453895" cy="795528"/>
          </a:xfrm>
          <a:prstGeom prst="rect">
            <a:avLst/>
          </a:prstGeom>
          <a:noFill/>
        </p:spPr>
        <p:txBody>
          <a:bodyPr wrap="square" lIns="27432" rIns="27432" tIns="18288" bIns="18288">
            <a:spAutoFit/>
          </a:bodyPr>
          <a:lstStyle/>
          <a:p>
            <a:pPr>
              <a:lnSpc>
                <a:spcPct val="105000"/>
              </a:lnSpc>
              <a:spcAft>
                <a:spcPts val="300"/>
              </a:spcAft>
              <a:defRPr sz="1200" b="1">
                <a:solidFill>
                  <a:srgbClr val="202D2B"/>
                </a:solidFill>
                <a:latin typeface="Calibri"/>
              </a:defRPr>
            </a:pPr>
            <a:r>
              <a:t>Finance &amp; networks</a:t>
            </a:r>
          </a:p>
          <a:p>
            <a:pPr>
              <a:lnSpc>
                <a:spcPct val="105000"/>
              </a:lnSpc>
              <a:spcAft>
                <a:spcPts val="300"/>
              </a:spcAft>
              <a:defRPr sz="1200" b="0">
                <a:solidFill>
                  <a:srgbClr val="202D2B"/>
                </a:solidFill>
                <a:latin typeface="Calibri"/>
              </a:defRPr>
            </a:pPr>
            <a:r>
              <a:t>implementation pathways</a:t>
            </a:r>
          </a:p>
        </p:txBody>
      </p:sp>
      <p:sp>
        <p:nvSpPr>
          <p:cNvPr id="19" name="Rounded Rectangle 18"/>
          <p:cNvSpPr/>
          <p:nvPr/>
        </p:nvSpPr>
        <p:spPr>
          <a:xfrm>
            <a:off x="1051560" y="4187952"/>
            <a:ext cx="7040880" cy="749808"/>
          </a:xfrm>
          <a:prstGeom prst="roundRect">
            <a:avLst/>
          </a:prstGeom>
          <a:solidFill>
            <a:srgbClr val="FAFCF9"/>
          </a:solidFill>
          <a:ln w="7620">
            <a:solidFill>
              <a:srgbClr val="D2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51560" y="4187952"/>
            <a:ext cx="73152" cy="749808"/>
          </a:xfrm>
          <a:prstGeom prst="rect">
            <a:avLst/>
          </a:prstGeom>
          <a:solidFill>
            <a:srgbClr val="6E4C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52728" y="4297680"/>
            <a:ext cx="6711696" cy="585215"/>
          </a:xfrm>
          <a:prstGeom prst="rect">
            <a:avLst/>
          </a:prstGeom>
          <a:noFill/>
        </p:spPr>
        <p:txBody>
          <a:bodyPr wrap="square" lIns="27432" rIns="27432" tIns="18288" bIns="18288">
            <a:spAutoFit/>
          </a:bodyPr>
          <a:lstStyle/>
          <a:p>
            <a:pPr>
              <a:lnSpc>
                <a:spcPct val="105000"/>
              </a:lnSpc>
              <a:spcAft>
                <a:spcPts val="300"/>
              </a:spcAft>
              <a:defRPr sz="1200" b="1">
                <a:solidFill>
                  <a:srgbClr val="202D2B"/>
                </a:solidFill>
                <a:latin typeface="Calibri"/>
              </a:defRPr>
            </a:pPr>
            <a:r>
              <a:t>Critical qualification</a:t>
            </a:r>
          </a:p>
          <a:p>
            <a:pPr>
              <a:lnSpc>
                <a:spcPct val="105000"/>
              </a:lnSpc>
              <a:spcAft>
                <a:spcPts val="300"/>
              </a:spcAft>
              <a:defRPr sz="1200" b="0">
                <a:solidFill>
                  <a:srgbClr val="202D2B"/>
                </a:solidFill>
                <a:latin typeface="Calibri"/>
              </a:defRPr>
            </a:pPr>
            <a:r>
              <a:t>EDIHs create conditions under which benefits become more plausible; they do not guarantee outcomes.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47472"/>
            <a:ext cx="7955279" cy="621792"/>
          </a:xfrm>
          <a:prstGeom prst="rect">
            <a:avLst/>
          </a:prstGeom>
          <a:noFill/>
        </p:spPr>
        <p:txBody>
          <a:bodyPr wrap="none">
            <a:spAutoFit/>
          </a:bodyPr>
          <a:lstStyle/>
          <a:p>
            <a:pPr algn="l">
              <a:defRPr b="1" sz="3000">
                <a:solidFill>
                  <a:srgbClr val="202D2B"/>
                </a:solidFill>
                <a:latin typeface="Calibri"/>
              </a:defRPr>
            </a:pPr>
            <a:r>
              <a:t>Comparative Country Patterns</a:t>
            </a:r>
          </a:p>
        </p:txBody>
      </p:sp>
      <p:sp>
        <p:nvSpPr>
          <p:cNvPr id="3" name="Rounded Rectangle 2"/>
          <p:cNvSpPr/>
          <p:nvPr/>
        </p:nvSpPr>
        <p:spPr>
          <a:xfrm>
            <a:off x="658368" y="1188720"/>
            <a:ext cx="3611880" cy="749808"/>
          </a:xfrm>
          <a:prstGeom prst="roundRect">
            <a:avLst/>
          </a:prstGeom>
          <a:solidFill>
            <a:srgbClr val="FAFCF9"/>
          </a:solidFill>
          <a:ln w="7620">
            <a:solidFill>
              <a:srgbClr val="D2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1188720"/>
            <a:ext cx="73152" cy="749808"/>
          </a:xfrm>
          <a:prstGeom prst="rect">
            <a:avLst/>
          </a:prstGeom>
          <a:solidFill>
            <a:srgbClr val="437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298448"/>
            <a:ext cx="3282696" cy="585215"/>
          </a:xfrm>
          <a:prstGeom prst="rect">
            <a:avLst/>
          </a:prstGeom>
          <a:noFill/>
        </p:spPr>
        <p:txBody>
          <a:bodyPr wrap="square" lIns="27432" rIns="27432" tIns="18288" bIns="18288">
            <a:spAutoFit/>
          </a:bodyPr>
          <a:lstStyle/>
          <a:p>
            <a:pPr>
              <a:lnSpc>
                <a:spcPct val="105000"/>
              </a:lnSpc>
              <a:spcAft>
                <a:spcPts val="300"/>
              </a:spcAft>
              <a:defRPr sz="1200" b="1">
                <a:solidFill>
                  <a:srgbClr val="202D2B"/>
                </a:solidFill>
                <a:latin typeface="Calibri"/>
              </a:defRPr>
            </a:pPr>
            <a:r>
              <a:t>Bulgaria</a:t>
            </a:r>
          </a:p>
          <a:p>
            <a:pPr>
              <a:lnSpc>
                <a:spcPct val="105000"/>
              </a:lnSpc>
              <a:spcAft>
                <a:spcPts val="300"/>
              </a:spcAft>
              <a:defRPr sz="1200" b="0">
                <a:solidFill>
                  <a:srgbClr val="202D2B"/>
                </a:solidFill>
                <a:latin typeface="Calibri"/>
              </a:defRPr>
            </a:pPr>
            <a:r>
              <a:t>explicit agri-food positioning</a:t>
            </a:r>
          </a:p>
        </p:txBody>
      </p:sp>
      <p:sp>
        <p:nvSpPr>
          <p:cNvPr id="6" name="Rounded Rectangle 5"/>
          <p:cNvSpPr/>
          <p:nvPr/>
        </p:nvSpPr>
        <p:spPr>
          <a:xfrm>
            <a:off x="4727448" y="1188720"/>
            <a:ext cx="3611880" cy="749808"/>
          </a:xfrm>
          <a:prstGeom prst="roundRect">
            <a:avLst/>
          </a:prstGeom>
          <a:solidFill>
            <a:srgbClr val="FAFCF9"/>
          </a:solidFill>
          <a:ln w="7620">
            <a:solidFill>
              <a:srgbClr val="D2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727448" y="1188720"/>
            <a:ext cx="73152" cy="749808"/>
          </a:xfrm>
          <a:prstGeom prst="rect">
            <a:avLst/>
          </a:prstGeom>
          <a:solidFill>
            <a:srgbClr val="437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928616" y="1298448"/>
            <a:ext cx="3282696" cy="585215"/>
          </a:xfrm>
          <a:prstGeom prst="rect">
            <a:avLst/>
          </a:prstGeom>
          <a:noFill/>
        </p:spPr>
        <p:txBody>
          <a:bodyPr wrap="square" lIns="27432" rIns="27432" tIns="18288" bIns="18288">
            <a:spAutoFit/>
          </a:bodyPr>
          <a:lstStyle/>
          <a:p>
            <a:pPr>
              <a:lnSpc>
                <a:spcPct val="105000"/>
              </a:lnSpc>
              <a:spcAft>
                <a:spcPts val="300"/>
              </a:spcAft>
              <a:defRPr sz="1200" b="1">
                <a:solidFill>
                  <a:srgbClr val="202D2B"/>
                </a:solidFill>
                <a:latin typeface="Calibri"/>
              </a:defRPr>
            </a:pPr>
            <a:r>
              <a:t>Greece</a:t>
            </a:r>
          </a:p>
          <a:p>
            <a:pPr>
              <a:lnSpc>
                <a:spcPct val="105000"/>
              </a:lnSpc>
              <a:spcAft>
                <a:spcPts val="300"/>
              </a:spcAft>
              <a:defRPr sz="1200" b="0">
                <a:solidFill>
                  <a:srgbClr val="202D2B"/>
                </a:solidFill>
                <a:latin typeface="Calibri"/>
              </a:defRPr>
            </a:pPr>
            <a:r>
              <a:t>sector-specialized hub</a:t>
            </a:r>
          </a:p>
        </p:txBody>
      </p:sp>
      <p:sp>
        <p:nvSpPr>
          <p:cNvPr id="9" name="Rounded Rectangle 8"/>
          <p:cNvSpPr/>
          <p:nvPr/>
        </p:nvSpPr>
        <p:spPr>
          <a:xfrm>
            <a:off x="658368" y="2148840"/>
            <a:ext cx="3611880" cy="749808"/>
          </a:xfrm>
          <a:prstGeom prst="roundRect">
            <a:avLst/>
          </a:prstGeom>
          <a:solidFill>
            <a:srgbClr val="FAFCF9"/>
          </a:solidFill>
          <a:ln w="7620">
            <a:solidFill>
              <a:srgbClr val="D2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2148840"/>
            <a:ext cx="73152" cy="749808"/>
          </a:xfrm>
          <a:prstGeom prst="rect">
            <a:avLst/>
          </a:prstGeom>
          <a:solidFill>
            <a:srgbClr val="2E8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2258568"/>
            <a:ext cx="3282696" cy="585215"/>
          </a:xfrm>
          <a:prstGeom prst="rect">
            <a:avLst/>
          </a:prstGeom>
          <a:noFill/>
        </p:spPr>
        <p:txBody>
          <a:bodyPr wrap="square" lIns="27432" rIns="27432" tIns="18288" bIns="18288">
            <a:spAutoFit/>
          </a:bodyPr>
          <a:lstStyle/>
          <a:p>
            <a:pPr>
              <a:lnSpc>
                <a:spcPct val="105000"/>
              </a:lnSpc>
              <a:spcAft>
                <a:spcPts val="300"/>
              </a:spcAft>
              <a:defRPr sz="1200" b="1">
                <a:solidFill>
                  <a:srgbClr val="202D2B"/>
                </a:solidFill>
                <a:latin typeface="Calibri"/>
              </a:defRPr>
            </a:pPr>
            <a:r>
              <a:t>Slovenia</a:t>
            </a:r>
          </a:p>
          <a:p>
            <a:pPr>
              <a:lnSpc>
                <a:spcPct val="105000"/>
              </a:lnSpc>
              <a:spcAft>
                <a:spcPts val="300"/>
              </a:spcAft>
              <a:defRPr sz="1200" b="0">
                <a:solidFill>
                  <a:srgbClr val="202D2B"/>
                </a:solidFill>
                <a:latin typeface="Calibri"/>
              </a:defRPr>
            </a:pPr>
            <a:r>
              <a:t>dedicated and multi-sector structures</a:t>
            </a:r>
          </a:p>
        </p:txBody>
      </p:sp>
      <p:sp>
        <p:nvSpPr>
          <p:cNvPr id="12" name="Rounded Rectangle 11"/>
          <p:cNvSpPr/>
          <p:nvPr/>
        </p:nvSpPr>
        <p:spPr>
          <a:xfrm>
            <a:off x="4727448" y="2148840"/>
            <a:ext cx="3611880" cy="749808"/>
          </a:xfrm>
          <a:prstGeom prst="roundRect">
            <a:avLst/>
          </a:prstGeom>
          <a:solidFill>
            <a:srgbClr val="FAFCF9"/>
          </a:solidFill>
          <a:ln w="7620">
            <a:solidFill>
              <a:srgbClr val="D2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727448" y="2148840"/>
            <a:ext cx="73152" cy="749808"/>
          </a:xfrm>
          <a:prstGeom prst="rect">
            <a:avLst/>
          </a:prstGeom>
          <a:solidFill>
            <a:srgbClr val="4168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28616" y="2258568"/>
            <a:ext cx="3282696" cy="585215"/>
          </a:xfrm>
          <a:prstGeom prst="rect">
            <a:avLst/>
          </a:prstGeom>
          <a:noFill/>
        </p:spPr>
        <p:txBody>
          <a:bodyPr wrap="square" lIns="27432" rIns="27432" tIns="18288" bIns="18288">
            <a:spAutoFit/>
          </a:bodyPr>
          <a:lstStyle/>
          <a:p>
            <a:pPr>
              <a:lnSpc>
                <a:spcPct val="105000"/>
              </a:lnSpc>
              <a:spcAft>
                <a:spcPts val="300"/>
              </a:spcAft>
              <a:defRPr sz="1200" b="1">
                <a:solidFill>
                  <a:srgbClr val="202D2B"/>
                </a:solidFill>
                <a:latin typeface="Calibri"/>
              </a:defRPr>
            </a:pPr>
            <a:r>
              <a:t>Spain</a:t>
            </a:r>
          </a:p>
          <a:p>
            <a:pPr>
              <a:lnSpc>
                <a:spcPct val="105000"/>
              </a:lnSpc>
              <a:spcAft>
                <a:spcPts val="300"/>
              </a:spcAft>
              <a:defRPr sz="1200" b="0">
                <a:solidFill>
                  <a:srgbClr val="202D2B"/>
                </a:solidFill>
                <a:latin typeface="Calibri"/>
              </a:defRPr>
            </a:pPr>
            <a:r>
              <a:t>mature ecosystem and coordination platform</a:t>
            </a:r>
          </a:p>
        </p:txBody>
      </p:sp>
      <p:sp>
        <p:nvSpPr>
          <p:cNvPr id="15" name="Rounded Rectangle 14"/>
          <p:cNvSpPr/>
          <p:nvPr/>
        </p:nvSpPr>
        <p:spPr>
          <a:xfrm>
            <a:off x="658368" y="3108960"/>
            <a:ext cx="3611880" cy="749808"/>
          </a:xfrm>
          <a:prstGeom prst="roundRect">
            <a:avLst/>
          </a:prstGeom>
          <a:solidFill>
            <a:srgbClr val="FAFCF9"/>
          </a:solidFill>
          <a:ln w="7620">
            <a:solidFill>
              <a:srgbClr val="D2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58368" y="3108960"/>
            <a:ext cx="73152" cy="749808"/>
          </a:xfrm>
          <a:prstGeom prst="rect">
            <a:avLst/>
          </a:prstGeom>
          <a:solidFill>
            <a:srgbClr val="E08E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 y="3218688"/>
            <a:ext cx="3282696" cy="585215"/>
          </a:xfrm>
          <a:prstGeom prst="rect">
            <a:avLst/>
          </a:prstGeom>
          <a:noFill/>
        </p:spPr>
        <p:txBody>
          <a:bodyPr wrap="square" lIns="27432" rIns="27432" tIns="18288" bIns="18288">
            <a:spAutoFit/>
          </a:bodyPr>
          <a:lstStyle/>
          <a:p>
            <a:pPr>
              <a:lnSpc>
                <a:spcPct val="105000"/>
              </a:lnSpc>
              <a:spcAft>
                <a:spcPts val="300"/>
              </a:spcAft>
              <a:defRPr sz="1200" b="1">
                <a:solidFill>
                  <a:srgbClr val="202D2B"/>
                </a:solidFill>
                <a:latin typeface="Calibri"/>
              </a:defRPr>
            </a:pPr>
            <a:r>
              <a:t>Turkey</a:t>
            </a:r>
          </a:p>
          <a:p>
            <a:pPr>
              <a:lnSpc>
                <a:spcPct val="105000"/>
              </a:lnSpc>
              <a:spcAft>
                <a:spcPts val="300"/>
              </a:spcAft>
              <a:defRPr sz="1200" b="0">
                <a:solidFill>
                  <a:srgbClr val="202D2B"/>
                </a:solidFill>
                <a:latin typeface="Calibri"/>
              </a:defRPr>
            </a:pPr>
            <a:r>
              <a:t>emerging agri-food innovation ecosystem</a:t>
            </a:r>
          </a:p>
        </p:txBody>
      </p:sp>
      <p:sp>
        <p:nvSpPr>
          <p:cNvPr id="18" name="Rounded Rectangle 17"/>
          <p:cNvSpPr/>
          <p:nvPr/>
        </p:nvSpPr>
        <p:spPr>
          <a:xfrm>
            <a:off x="4727448" y="3108960"/>
            <a:ext cx="3611880" cy="749808"/>
          </a:xfrm>
          <a:prstGeom prst="roundRect">
            <a:avLst/>
          </a:prstGeom>
          <a:solidFill>
            <a:srgbClr val="FAFCF9"/>
          </a:solidFill>
          <a:ln w="7620">
            <a:solidFill>
              <a:srgbClr val="D2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727448" y="3108960"/>
            <a:ext cx="73152" cy="749808"/>
          </a:xfrm>
          <a:prstGeom prst="rect">
            <a:avLst/>
          </a:prstGeom>
          <a:solidFill>
            <a:srgbClr val="6E4C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928616" y="3218688"/>
            <a:ext cx="3282696" cy="585215"/>
          </a:xfrm>
          <a:prstGeom prst="rect">
            <a:avLst/>
          </a:prstGeom>
          <a:noFill/>
        </p:spPr>
        <p:txBody>
          <a:bodyPr wrap="square" lIns="27432" rIns="27432" tIns="18288" bIns="18288">
            <a:spAutoFit/>
          </a:bodyPr>
          <a:lstStyle/>
          <a:p>
            <a:pPr>
              <a:lnSpc>
                <a:spcPct val="105000"/>
              </a:lnSpc>
              <a:spcAft>
                <a:spcPts val="300"/>
              </a:spcAft>
              <a:defRPr sz="1200" b="1">
                <a:solidFill>
                  <a:srgbClr val="202D2B"/>
                </a:solidFill>
                <a:latin typeface="Calibri"/>
              </a:defRPr>
            </a:pPr>
            <a:r>
              <a:t>Romania</a:t>
            </a:r>
          </a:p>
          <a:p>
            <a:pPr>
              <a:lnSpc>
                <a:spcPct val="105000"/>
              </a:lnSpc>
              <a:spcAft>
                <a:spcPts val="300"/>
              </a:spcAft>
              <a:defRPr sz="1200" b="0">
                <a:solidFill>
                  <a:srgbClr val="202D2B"/>
                </a:solidFill>
                <a:latin typeface="Calibri"/>
              </a:defRPr>
            </a:pPr>
            <a:r>
              <a:t>heterogeneous multi-sector configuration</a:t>
            </a:r>
          </a:p>
        </p:txBody>
      </p:sp>
      <p:pic>
        <p:nvPicPr>
          <p:cNvPr id="21" name="Picture 20" descr="country_network.png"/>
          <p:cNvPicPr>
            <a:picLocks noChangeAspect="1"/>
          </p:cNvPicPr>
          <p:nvPr/>
        </p:nvPicPr>
        <p:blipFill>
          <a:blip r:embed="rId4"/>
          <a:stretch>
            <a:fillRect/>
          </a:stretch>
        </p:blipFill>
        <p:spPr>
          <a:xfrm>
            <a:off x="1600200" y="4315968"/>
            <a:ext cx="5852160" cy="13716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47472"/>
            <a:ext cx="7955279" cy="621792"/>
          </a:xfrm>
          <a:prstGeom prst="rect">
            <a:avLst/>
          </a:prstGeom>
          <a:noFill/>
        </p:spPr>
        <p:txBody>
          <a:bodyPr wrap="none">
            <a:spAutoFit/>
          </a:bodyPr>
          <a:lstStyle/>
          <a:p>
            <a:pPr algn="l">
              <a:defRPr b="1" sz="3000">
                <a:solidFill>
                  <a:srgbClr val="202D2B"/>
                </a:solidFill>
                <a:latin typeface="Calibri"/>
              </a:defRPr>
            </a:pPr>
            <a:r>
              <a:t>Discussion and Conclusions</a:t>
            </a:r>
          </a:p>
        </p:txBody>
      </p:sp>
      <p:sp>
        <p:nvSpPr>
          <p:cNvPr id="3" name="TextBox 2"/>
          <p:cNvSpPr txBox="1"/>
          <p:nvPr/>
        </p:nvSpPr>
        <p:spPr>
          <a:xfrm>
            <a:off x="713232" y="1078992"/>
            <a:ext cx="7818120" cy="777240"/>
          </a:xfrm>
          <a:prstGeom prst="rect">
            <a:avLst/>
          </a:prstGeom>
          <a:noFill/>
        </p:spPr>
        <p:txBody>
          <a:bodyPr wrap="square" lIns="27432" rIns="27432" tIns="18288" bIns="18288">
            <a:spAutoFit/>
          </a:bodyPr>
          <a:lstStyle/>
          <a:p>
            <a:pPr>
              <a:lnSpc>
                <a:spcPct val="105000"/>
              </a:lnSpc>
              <a:spcAft>
                <a:spcPts val="500"/>
              </a:spcAft>
              <a:defRPr sz="1600" b="1">
                <a:solidFill>
                  <a:srgbClr val="202D2B"/>
                </a:solidFill>
                <a:latin typeface="Calibri"/>
              </a:defRPr>
            </a:pPr>
            <a:r>
              <a:t>EDIHs are potentially valuable intermediary structures, but their effectiveness is conditional rather than automatic.</a:t>
            </a:r>
          </a:p>
        </p:txBody>
      </p:sp>
      <p:sp>
        <p:nvSpPr>
          <p:cNvPr id="4" name="Rounded Rectangle 3"/>
          <p:cNvSpPr/>
          <p:nvPr/>
        </p:nvSpPr>
        <p:spPr>
          <a:xfrm>
            <a:off x="768096" y="2176272"/>
            <a:ext cx="2377440" cy="1234440"/>
          </a:xfrm>
          <a:prstGeom prst="roundRect">
            <a:avLst/>
          </a:prstGeom>
          <a:solidFill>
            <a:srgbClr val="FAFCF9"/>
          </a:solidFill>
          <a:ln w="7620">
            <a:solidFill>
              <a:srgbClr val="D2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68096" y="2176272"/>
            <a:ext cx="73152" cy="1234440"/>
          </a:xfrm>
          <a:prstGeom prst="rect">
            <a:avLst/>
          </a:prstGeom>
          <a:solidFill>
            <a:srgbClr val="437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9264" y="2286000"/>
            <a:ext cx="2048256" cy="1069848"/>
          </a:xfrm>
          <a:prstGeom prst="rect">
            <a:avLst/>
          </a:prstGeom>
          <a:noFill/>
        </p:spPr>
        <p:txBody>
          <a:bodyPr wrap="square" lIns="27432" rIns="27432" tIns="18288" bIns="18288">
            <a:spAutoFit/>
          </a:bodyPr>
          <a:lstStyle/>
          <a:p>
            <a:pPr>
              <a:lnSpc>
                <a:spcPct val="105000"/>
              </a:lnSpc>
              <a:spcAft>
                <a:spcPts val="300"/>
              </a:spcAft>
              <a:defRPr sz="1200" b="1">
                <a:solidFill>
                  <a:srgbClr val="202D2B"/>
                </a:solidFill>
                <a:latin typeface="Calibri"/>
              </a:defRPr>
            </a:pPr>
            <a:r>
              <a:t>1. Sector adaptation</a:t>
            </a:r>
          </a:p>
          <a:p>
            <a:pPr>
              <a:lnSpc>
                <a:spcPct val="105000"/>
              </a:lnSpc>
              <a:spcAft>
                <a:spcPts val="300"/>
              </a:spcAft>
              <a:defRPr sz="1200" b="0">
                <a:solidFill>
                  <a:srgbClr val="202D2B"/>
                </a:solidFill>
                <a:latin typeface="Calibri"/>
              </a:defRPr>
            </a:pPr>
            <a:r>
              <a:t>services must become concrete agricultural use cases</a:t>
            </a:r>
          </a:p>
        </p:txBody>
      </p:sp>
      <p:sp>
        <p:nvSpPr>
          <p:cNvPr id="7" name="Rounded Rectangle 6"/>
          <p:cNvSpPr/>
          <p:nvPr/>
        </p:nvSpPr>
        <p:spPr>
          <a:xfrm>
            <a:off x="3383280" y="2176272"/>
            <a:ext cx="2377440" cy="1234440"/>
          </a:xfrm>
          <a:prstGeom prst="roundRect">
            <a:avLst/>
          </a:prstGeom>
          <a:solidFill>
            <a:srgbClr val="FAFCF9"/>
          </a:solidFill>
          <a:ln w="7620">
            <a:solidFill>
              <a:srgbClr val="D2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383280" y="2176272"/>
            <a:ext cx="73152" cy="1234440"/>
          </a:xfrm>
          <a:prstGeom prst="rect">
            <a:avLst/>
          </a:prstGeom>
          <a:solidFill>
            <a:srgbClr val="E08E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84448" y="2286000"/>
            <a:ext cx="2048256" cy="1069848"/>
          </a:xfrm>
          <a:prstGeom prst="rect">
            <a:avLst/>
          </a:prstGeom>
          <a:noFill/>
        </p:spPr>
        <p:txBody>
          <a:bodyPr wrap="square" lIns="27432" rIns="27432" tIns="18288" bIns="18288">
            <a:spAutoFit/>
          </a:bodyPr>
          <a:lstStyle/>
          <a:p>
            <a:pPr>
              <a:lnSpc>
                <a:spcPct val="105000"/>
              </a:lnSpc>
              <a:spcAft>
                <a:spcPts val="300"/>
              </a:spcAft>
              <a:defRPr sz="1200" b="1">
                <a:solidFill>
                  <a:srgbClr val="202D2B"/>
                </a:solidFill>
                <a:latin typeface="Calibri"/>
              </a:defRPr>
            </a:pPr>
            <a:r>
              <a:t>2. Inclusive access</a:t>
            </a:r>
          </a:p>
          <a:p>
            <a:pPr>
              <a:lnSpc>
                <a:spcPct val="105000"/>
              </a:lnSpc>
              <a:spcAft>
                <a:spcPts val="300"/>
              </a:spcAft>
              <a:defRPr sz="1200" b="0">
                <a:solidFill>
                  <a:srgbClr val="202D2B"/>
                </a:solidFill>
                <a:latin typeface="Calibri"/>
              </a:defRPr>
            </a:pPr>
            <a:r>
              <a:t>formal availability does not ensure uptake by small farms</a:t>
            </a:r>
          </a:p>
        </p:txBody>
      </p:sp>
      <p:sp>
        <p:nvSpPr>
          <p:cNvPr id="10" name="Rounded Rectangle 9"/>
          <p:cNvSpPr/>
          <p:nvPr/>
        </p:nvSpPr>
        <p:spPr>
          <a:xfrm>
            <a:off x="5998464" y="2176272"/>
            <a:ext cx="2377440" cy="1234440"/>
          </a:xfrm>
          <a:prstGeom prst="roundRect">
            <a:avLst/>
          </a:prstGeom>
          <a:solidFill>
            <a:srgbClr val="FAFCF9"/>
          </a:solidFill>
          <a:ln w="7620">
            <a:solidFill>
              <a:srgbClr val="D2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98464" y="2176272"/>
            <a:ext cx="73152" cy="1234440"/>
          </a:xfrm>
          <a:prstGeom prst="rect">
            <a:avLst/>
          </a:prstGeom>
          <a:solidFill>
            <a:srgbClr val="4168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99631" y="2286000"/>
            <a:ext cx="2048256" cy="1069848"/>
          </a:xfrm>
          <a:prstGeom prst="rect">
            <a:avLst/>
          </a:prstGeom>
          <a:noFill/>
        </p:spPr>
        <p:txBody>
          <a:bodyPr wrap="square" lIns="27432" rIns="27432" tIns="18288" bIns="18288">
            <a:spAutoFit/>
          </a:bodyPr>
          <a:lstStyle/>
          <a:p>
            <a:pPr>
              <a:lnSpc>
                <a:spcPct val="105000"/>
              </a:lnSpc>
              <a:spcAft>
                <a:spcPts val="300"/>
              </a:spcAft>
              <a:defRPr sz="1200" b="1">
                <a:solidFill>
                  <a:srgbClr val="202D2B"/>
                </a:solidFill>
                <a:latin typeface="Calibri"/>
              </a:defRPr>
            </a:pPr>
            <a:r>
              <a:t>3. Governance alignment</a:t>
            </a:r>
          </a:p>
          <a:p>
            <a:pPr>
              <a:lnSpc>
                <a:spcPct val="105000"/>
              </a:lnSpc>
              <a:spcAft>
                <a:spcPts val="300"/>
              </a:spcAft>
              <a:defRPr sz="1200" b="0">
                <a:solidFill>
                  <a:srgbClr val="202D2B"/>
                </a:solidFill>
                <a:latin typeface="Calibri"/>
              </a:defRPr>
            </a:pPr>
            <a:r>
              <a:t>EU, national and regional levels need closer coordination</a:t>
            </a:r>
          </a:p>
        </p:txBody>
      </p:sp>
      <p:sp>
        <p:nvSpPr>
          <p:cNvPr id="13" name="TextBox 12"/>
          <p:cNvSpPr txBox="1"/>
          <p:nvPr/>
        </p:nvSpPr>
        <p:spPr>
          <a:xfrm>
            <a:off x="914400" y="4160520"/>
            <a:ext cx="7315200" cy="713232"/>
          </a:xfrm>
          <a:prstGeom prst="rect">
            <a:avLst/>
          </a:prstGeom>
          <a:noFill/>
        </p:spPr>
        <p:txBody>
          <a:bodyPr wrap="square" lIns="27432" rIns="27432" tIns="18288" bIns="18288">
            <a:spAutoFit/>
          </a:bodyPr>
          <a:lstStyle/>
          <a:p>
            <a:pPr>
              <a:lnSpc>
                <a:spcPct val="105000"/>
              </a:lnSpc>
              <a:spcAft>
                <a:spcPts val="500"/>
              </a:spcAft>
              <a:defRPr sz="1500" b="1">
                <a:solidFill>
                  <a:srgbClr val="6E4C93"/>
                </a:solidFill>
                <a:latin typeface="Calibri"/>
              </a:defRPr>
            </a:pPr>
            <a:r>
              <a:t>Future research should examine user experience, post-adoption outcomes and measurable farm-level effects.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47472"/>
            <a:ext cx="7955279" cy="621792"/>
          </a:xfrm>
          <a:prstGeom prst="rect">
            <a:avLst/>
          </a:prstGeom>
          <a:noFill/>
        </p:spPr>
        <p:txBody>
          <a:bodyPr wrap="none">
            <a:spAutoFit/>
          </a:bodyPr>
          <a:lstStyle/>
          <a:p>
            <a:pPr algn="l">
              <a:defRPr b="1" sz="3000">
                <a:solidFill>
                  <a:srgbClr val="202D2B"/>
                </a:solidFill>
                <a:latin typeface="Calibri"/>
              </a:defRPr>
            </a:pPr>
            <a:r>
              <a:t>Final Message</a:t>
            </a:r>
          </a:p>
        </p:txBody>
      </p:sp>
      <p:sp>
        <p:nvSpPr>
          <p:cNvPr id="3" name="TextBox 2"/>
          <p:cNvSpPr txBox="1"/>
          <p:nvPr/>
        </p:nvSpPr>
        <p:spPr>
          <a:xfrm>
            <a:off x="841248" y="1234440"/>
            <a:ext cx="7315200" cy="1280160"/>
          </a:xfrm>
          <a:prstGeom prst="rect">
            <a:avLst/>
          </a:prstGeom>
          <a:noFill/>
        </p:spPr>
        <p:txBody>
          <a:bodyPr wrap="square" lIns="27432" rIns="27432" tIns="18288" bIns="18288">
            <a:spAutoFit/>
          </a:bodyPr>
          <a:lstStyle/>
          <a:p>
            <a:pPr>
              <a:lnSpc>
                <a:spcPct val="105000"/>
              </a:lnSpc>
              <a:spcAft>
                <a:spcPts val="500"/>
              </a:spcAft>
              <a:defRPr sz="1900" b="0">
                <a:solidFill>
                  <a:srgbClr val="202D2B"/>
                </a:solidFill>
                <a:latin typeface="Calibri"/>
              </a:defRPr>
            </a:pPr>
            <a:r>
              <a:t>EDIHs can support agri-food digitalization when services are sector-specific, affordable and locally embedded.</a:t>
            </a:r>
          </a:p>
          <a:p>
            <a:pPr>
              <a:lnSpc>
                <a:spcPct val="105000"/>
              </a:lnSpc>
              <a:spcAft>
                <a:spcPts val="500"/>
              </a:spcAft>
              <a:defRPr sz="1900" b="0">
                <a:solidFill>
                  <a:srgbClr val="202D2B"/>
                </a:solidFill>
                <a:latin typeface="Calibri"/>
              </a:defRPr>
            </a:pPr>
            <a:r>
              <a:t>Inclusive impact depends on practical accessibility for smaller agricultural actors.</a:t>
            </a:r>
          </a:p>
        </p:txBody>
      </p:sp>
      <p:sp>
        <p:nvSpPr>
          <p:cNvPr id="4" name="Rounded Rectangle 3"/>
          <p:cNvSpPr/>
          <p:nvPr/>
        </p:nvSpPr>
        <p:spPr>
          <a:xfrm>
            <a:off x="1005840" y="3246120"/>
            <a:ext cx="7132320" cy="1024128"/>
          </a:xfrm>
          <a:prstGeom prst="roundRect">
            <a:avLst/>
          </a:prstGeom>
          <a:solidFill>
            <a:srgbClr val="FAFCF9"/>
          </a:solidFill>
          <a:ln w="7620">
            <a:solidFill>
              <a:srgbClr val="D2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05840" y="3246120"/>
            <a:ext cx="73152" cy="1024128"/>
          </a:xfrm>
          <a:prstGeom prst="rect">
            <a:avLst/>
          </a:prstGeom>
          <a:solidFill>
            <a:srgbClr val="437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07008" y="3355848"/>
            <a:ext cx="6803136" cy="859536"/>
          </a:xfrm>
          <a:prstGeom prst="rect">
            <a:avLst/>
          </a:prstGeom>
          <a:noFill/>
        </p:spPr>
        <p:txBody>
          <a:bodyPr wrap="square" lIns="27432" rIns="27432" tIns="18288" bIns="18288">
            <a:spAutoFit/>
          </a:bodyPr>
          <a:lstStyle/>
          <a:p>
            <a:pPr>
              <a:lnSpc>
                <a:spcPct val="105000"/>
              </a:lnSpc>
              <a:spcAft>
                <a:spcPts val="300"/>
              </a:spcAft>
              <a:defRPr sz="1200" b="1">
                <a:solidFill>
                  <a:srgbClr val="202D2B"/>
                </a:solidFill>
                <a:latin typeface="Calibri"/>
              </a:defRPr>
            </a:pPr>
            <a:r>
              <a:t>Take-home message</a:t>
            </a:r>
          </a:p>
          <a:p>
            <a:pPr>
              <a:lnSpc>
                <a:spcPct val="105000"/>
              </a:lnSpc>
              <a:spcAft>
                <a:spcPts val="300"/>
              </a:spcAft>
              <a:defRPr sz="1200" b="0">
                <a:solidFill>
                  <a:srgbClr val="202D2B"/>
                </a:solidFill>
                <a:latin typeface="Calibri"/>
              </a:defRPr>
            </a:pPr>
            <a:r>
              <a:t>Relevance depends on specialization, ecosystem capacity and real accessibility.</a:t>
            </a:r>
          </a:p>
        </p:txBody>
      </p:sp>
      <p:sp>
        <p:nvSpPr>
          <p:cNvPr id="7" name="TextBox 6"/>
          <p:cNvSpPr txBox="1"/>
          <p:nvPr/>
        </p:nvSpPr>
        <p:spPr>
          <a:xfrm>
            <a:off x="1024128" y="4645152"/>
            <a:ext cx="7040880" cy="384048"/>
          </a:xfrm>
          <a:prstGeom prst="rect">
            <a:avLst/>
          </a:prstGeom>
          <a:noFill/>
        </p:spPr>
        <p:txBody>
          <a:bodyPr wrap="square" lIns="27432" rIns="27432" tIns="18288" bIns="18288">
            <a:spAutoFit/>
          </a:bodyPr>
          <a:lstStyle/>
          <a:p>
            <a:pPr>
              <a:lnSpc>
                <a:spcPct val="105000"/>
              </a:lnSpc>
              <a:spcAft>
                <a:spcPts val="500"/>
              </a:spcAft>
              <a:defRPr sz="2000" b="1">
                <a:solidFill>
                  <a:srgbClr val="437843"/>
                </a:solidFill>
                <a:latin typeface="Calibri"/>
              </a:defRPr>
            </a:pPr>
            <a:r>
              <a:t>Thank you for your attention</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DEFAULT DESIGN" val="y2gdkUGS"/>
  <p:tag name="ARTICULATE_SLIDE_COUNT" val="3"/>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1014</TotalTime>
  <Words>1978</Words>
  <Application>Microsoft Office PowerPoint</Application>
  <PresentationFormat>On-screen Show (4:3)</PresentationFormat>
  <Paragraphs>129</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A4LIFE_Presentation_Model</dc:title>
  <dc:creator>Computer</dc:creator>
  <cp:lastModifiedBy>Kostadin Penchev</cp:lastModifiedBy>
  <cp:revision>105</cp:revision>
  <dcterms:created xsi:type="dcterms:W3CDTF">2014-05-21T22:41:19Z</dcterms:created>
  <dcterms:modified xsi:type="dcterms:W3CDTF">2026-05-07T14:24:30Z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FAF642AF-FD16-4087-A2BA-8D1B5BDDFAA8</vt:lpwstr>
  </property>
  <property fmtid="{D5CDD505-2E9C-101B-9397-08002B2CF9AE}" pid="3" name="ArticulatePath">
    <vt:lpwstr>A4LIFE_Oral_presentation_template_model</vt:lpwstr>
  </property>
</Properties>
</file>